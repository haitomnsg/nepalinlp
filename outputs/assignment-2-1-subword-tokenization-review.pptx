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01e5fc753294c3a" /><Relationship Type="http://schemas.openxmlformats.org/officeDocument/2006/relationships/extended-properties" Target="/docProps/app.xml" Id="R2381ac0a89a44970" /><Relationship Type="http://schemas.openxmlformats.org/officeDocument/2006/relationships/officeDocument" Target="/ppt/presentation.xml" Id="R70812bea900745b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068524a967743cc"/>
  </p:sldMasterIdLst>
  <p:notesMasterIdLst>
    <p:notesMasterId xmlns:r="http://schemas.openxmlformats.org/officeDocument/2006/relationships" r:id="R7e1ea334d202442f"/>
  </p:notesMasterIdLst>
  <p:sldIdLst>
    <p:sldId xmlns:r="http://schemas.openxmlformats.org/officeDocument/2006/relationships" id="256" r:id="R5571ca4fc63042ac"/>
    <p:sldId xmlns:r="http://schemas.openxmlformats.org/officeDocument/2006/relationships" id="257" r:id="R0e9a7826982f41e5"/>
    <p:sldId xmlns:r="http://schemas.openxmlformats.org/officeDocument/2006/relationships" id="258" r:id="Rd2826f1d77474620"/>
    <p:sldId xmlns:r="http://schemas.openxmlformats.org/officeDocument/2006/relationships" id="259" r:id="Re4f59a382d994c3d"/>
    <p:sldId xmlns:r="http://schemas.openxmlformats.org/officeDocument/2006/relationships" id="260" r:id="Rf60b0544813049a7"/>
    <p:sldId xmlns:r="http://schemas.openxmlformats.org/officeDocument/2006/relationships" id="261" r:id="R7c75cabbda184d75"/>
    <p:sldId xmlns:r="http://schemas.openxmlformats.org/officeDocument/2006/relationships" id="262" r:id="R1e3b1c285ff04178"/>
    <p:sldId xmlns:r="http://schemas.openxmlformats.org/officeDocument/2006/relationships" id="263" r:id="R134183be3a0c4738"/>
    <p:sldId xmlns:r="http://schemas.openxmlformats.org/officeDocument/2006/relationships" id="264" r:id="R652eb652411b4649"/>
    <p:sldId xmlns:r="http://schemas.openxmlformats.org/officeDocument/2006/relationships" id="265" r:id="R0f9cfc1eeba64dc3"/>
    <p:sldId xmlns:r="http://schemas.openxmlformats.org/officeDocument/2006/relationships" id="266" r:id="Redacc67b96dc488b"/>
    <p:sldId xmlns:r="http://schemas.openxmlformats.org/officeDocument/2006/relationships" id="267" r:id="Ra6d7a88359954da5"/>
    <p:sldId xmlns:r="http://schemas.openxmlformats.org/officeDocument/2006/relationships" id="268" r:id="R9078dce653a14382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4491fb63b9442b9" /><Relationship Type="http://schemas.openxmlformats.org/officeDocument/2006/relationships/slideMaster" Target="/ppt/slideMasters/slideMaster1.xml" Id="R1068524a967743cc" /><Relationship Type="http://schemas.openxmlformats.org/officeDocument/2006/relationships/notesMaster" Target="/ppt/notesMasters/notesMaster1.xml" Id="R7e1ea334d202442f" /><Relationship Type="http://schemas.openxmlformats.org/officeDocument/2006/relationships/presProps" Target="/ppt/presProps.xml" Id="Rbd88d677823f479e" /><Relationship Type="http://schemas.openxmlformats.org/officeDocument/2006/relationships/tableStyles" Target="/ppt/tableStyles.xml" Id="R508775a4d12f4816" /><Relationship Type="http://schemas.openxmlformats.org/officeDocument/2006/relationships/slide" Target="/ppt/slides/slide1.xml" Id="R5571ca4fc63042ac" /><Relationship Type="http://schemas.openxmlformats.org/officeDocument/2006/relationships/slide" Target="/ppt/slides/slide2.xml" Id="R0e9a7826982f41e5" /><Relationship Type="http://schemas.openxmlformats.org/officeDocument/2006/relationships/slide" Target="/ppt/slides/slide3.xml" Id="Rd2826f1d77474620" /><Relationship Type="http://schemas.openxmlformats.org/officeDocument/2006/relationships/slide" Target="/ppt/slides/slide4.xml" Id="Re4f59a382d994c3d" /><Relationship Type="http://schemas.openxmlformats.org/officeDocument/2006/relationships/slide" Target="/ppt/slides/slide5.xml" Id="Rf60b0544813049a7" /><Relationship Type="http://schemas.openxmlformats.org/officeDocument/2006/relationships/slide" Target="/ppt/slides/slide6.xml" Id="R7c75cabbda184d75" /><Relationship Type="http://schemas.openxmlformats.org/officeDocument/2006/relationships/slide" Target="/ppt/slides/slide7.xml" Id="R1e3b1c285ff04178" /><Relationship Type="http://schemas.openxmlformats.org/officeDocument/2006/relationships/slide" Target="/ppt/slides/slide8.xml" Id="R134183be3a0c4738" /><Relationship Type="http://schemas.openxmlformats.org/officeDocument/2006/relationships/slide" Target="/ppt/slides/slide9.xml" Id="R652eb652411b4649" /><Relationship Type="http://schemas.openxmlformats.org/officeDocument/2006/relationships/slide" Target="/ppt/slides/slide10.xml" Id="R0f9cfc1eeba64dc3" /><Relationship Type="http://schemas.openxmlformats.org/officeDocument/2006/relationships/slide" Target="/ppt/slides/slide11.xml" Id="Redacc67b96dc488b" /><Relationship Type="http://schemas.openxmlformats.org/officeDocument/2006/relationships/slide" Target="/ppt/slides/slide12.xml" Id="Ra6d7a88359954da5" /><Relationship Type="http://schemas.openxmlformats.org/officeDocument/2006/relationships/slide" Target="/ppt/slides/slide13.xml" Id="R9078dce653a1438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89dff133a6549b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be48b4b4c02429b" /><Relationship Type="http://schemas.openxmlformats.org/officeDocument/2006/relationships/notesMaster" Target="/ppt/notesMasters/notesMaster1.xml" Id="Rfc51aacc3d8c47e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bd041f00be94929" /><Relationship Type="http://schemas.openxmlformats.org/officeDocument/2006/relationships/notesMaster" Target="/ppt/notesMasters/notesMaster1.xml" Id="Raa80cd32752f4d8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e97be5e8e88462f" /><Relationship Type="http://schemas.openxmlformats.org/officeDocument/2006/relationships/notesMaster" Target="/ppt/notesMasters/notesMaster1.xml" Id="R965f8a0c5d6a444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68d62d409b2445f" /><Relationship Type="http://schemas.openxmlformats.org/officeDocument/2006/relationships/notesMaster" Target="/ppt/notesMasters/notesMaster1.xml" Id="R57b90fc20b03424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91a0c1184274fa6" /><Relationship Type="http://schemas.openxmlformats.org/officeDocument/2006/relationships/notesMaster" Target="/ppt/notesMasters/notesMaster1.xml" Id="R55babdbe5c104bf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d17bc5af0c547eb" /><Relationship Type="http://schemas.openxmlformats.org/officeDocument/2006/relationships/notesMaster" Target="/ppt/notesMasters/notesMaster1.xml" Id="R49c40b180ac748a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2cb7afff4b94dfc" /><Relationship Type="http://schemas.openxmlformats.org/officeDocument/2006/relationships/notesMaster" Target="/ppt/notesMasters/notesMaster1.xml" Id="R283a72e8e6c2472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9b3ef014d634be7" /><Relationship Type="http://schemas.openxmlformats.org/officeDocument/2006/relationships/notesMaster" Target="/ppt/notesMasters/notesMaster1.xml" Id="Rade0c0d04a41450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3eca8b1ee6e46e4" /><Relationship Type="http://schemas.openxmlformats.org/officeDocument/2006/relationships/notesMaster" Target="/ppt/notesMasters/notesMaster1.xml" Id="R478cfc24f4174ee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c9eed3e1f3349cc" /><Relationship Type="http://schemas.openxmlformats.org/officeDocument/2006/relationships/notesMaster" Target="/ppt/notesMasters/notesMaster1.xml" Id="R5e438821673b432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7618e7754404d76" /><Relationship Type="http://schemas.openxmlformats.org/officeDocument/2006/relationships/notesMaster" Target="/ppt/notesMasters/notesMaster1.xml" Id="Ra68b0ad66e214e77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77d0edb9f9e4d1e" /><Relationship Type="http://schemas.openxmlformats.org/officeDocument/2006/relationships/notesMaster" Target="/ppt/notesMasters/notesMaster1.xml" Id="Raf0433e89f734e46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1596a41a4cf74172" /><Relationship Type="http://schemas.openxmlformats.org/officeDocument/2006/relationships/notesMaster" Target="/ppt/notesMasters/notesMaster1.xml" Id="Rb247663a52e74e5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fc5e12373e44e6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40526d196bd4b57" /><Relationship Type="http://schemas.openxmlformats.org/officeDocument/2006/relationships/slideLayout" Target="/ppt/slideLayouts/slideLayout1.xml" Id="R108494df69a94d5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08494df69a94d5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dc9630eaf9489d" /><Relationship Type="http://schemas.openxmlformats.org/officeDocument/2006/relationships/notesSlide" Target="/ppt/notesSlides/notesSlide1.xml" Id="R9151ac58e5184d5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8897976e0f493b" /><Relationship Type="http://schemas.openxmlformats.org/officeDocument/2006/relationships/notesSlide" Target="/ppt/notesSlides/notesSlide2.xml" Id="R29431dd0b91449e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9f3955f4f042d9" /><Relationship Type="http://schemas.openxmlformats.org/officeDocument/2006/relationships/notesSlide" Target="/ppt/notesSlides/notesSlide3.xml" Id="R1dd57bf8cf0b438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5c8d50c0f9437e" /><Relationship Type="http://schemas.openxmlformats.org/officeDocument/2006/relationships/notesSlide" Target="/ppt/notesSlides/notesSlide4.xml" Id="Rcae6400aace248b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c7569f300b415d" /><Relationship Type="http://schemas.openxmlformats.org/officeDocument/2006/relationships/notesSlide" Target="/ppt/notesSlides/notesSlide5.xml" Id="Re3c9d72969504f5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915e334bc54858" /><Relationship Type="http://schemas.openxmlformats.org/officeDocument/2006/relationships/notesSlide" Target="/ppt/notesSlides/notesSlide6.xml" Id="R2fc695db922d4c7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a68adc08d94e0a" /><Relationship Type="http://schemas.openxmlformats.org/officeDocument/2006/relationships/notesSlide" Target="/ppt/notesSlides/notesSlide7.xml" Id="R8f6d977802c8476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cfdadba9f64136" /><Relationship Type="http://schemas.openxmlformats.org/officeDocument/2006/relationships/notesSlide" Target="/ppt/notesSlides/notesSlide8.xml" Id="R665b3dffeedb48b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72eea4d1ad4773" /><Relationship Type="http://schemas.openxmlformats.org/officeDocument/2006/relationships/notesSlide" Target="/ppt/notesSlides/notesSlide9.xml" Id="R822f153f6f8241b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6a38474ba247ee" /><Relationship Type="http://schemas.openxmlformats.org/officeDocument/2006/relationships/notesSlide" Target="/ppt/notesSlides/notesSlide10.xml" Id="R98c8ea4d20b34ee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49b45e40ba468a" /><Relationship Type="http://schemas.openxmlformats.org/officeDocument/2006/relationships/notesSlide" Target="/ppt/notesSlides/notesSlide11.xml" Id="R8009b6cac22a442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69d9d2239f4e0e" /><Relationship Type="http://schemas.openxmlformats.org/officeDocument/2006/relationships/notesSlide" Target="/ppt/notesSlides/notesSlide12.xml" Id="R358471f9bf5f4c69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96c9e5bc1f4868" /><Relationship Type="http://schemas.openxmlformats.org/officeDocument/2006/relationships/notesSlide" Target="/ppt/notesSlides/notesSlide13.xml" Id="R129b6f95e33044f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ext">
            <a:extLst xmlns:a="http://schemas.openxmlformats.org/drawingml/2006/main">
              <a:ext uri="{FF2B5EF4-FFF2-40B4-BE49-F238E27FC236}">
                <a16:creationId xmlns:a16="http://schemas.microsoft.com/office/drawing/2014/main" id="{D714E8AC-78BE-4036-9569-041479E9D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304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555555"/>
                </a:solidFill>
              </a:defRPr>
            </a:pPr>
            <a:r>
              <a:rPr sz="2100" b="0">
                <a:solidFill>
                  <a:srgbClr val="555555"/>
                </a:solidFill>
              </a:rPr>
              <a:t>Assignment 2.1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9E2DF23D-F675-42D3-95F3-A2E800390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04950"/>
            <a:ext cx="9810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500" b="1">
                <a:solidFill>
                  <a:srgbClr val="000000"/>
                </a:solidFill>
              </a:defRPr>
            </a:pPr>
            <a:r>
              <a:rPr sz="4500" b="1">
                <a:solidFill>
                  <a:srgbClr val="000000"/>
                </a:solidFill>
              </a:rPr>
              <a:t>Review of Subword Tokenization Algorithms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35361FA7-1F49-4ED8-AA0E-D7D295679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924300"/>
            <a:ext cx="6858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55555"/>
                </a:solidFill>
              </a:defRPr>
            </a:pPr>
            <a:r>
              <a:rPr sz="1950" b="0">
                <a:solidFill>
                  <a:srgbClr val="555555"/>
                </a:solidFill>
              </a:rPr>
              <a:t>WordPiece, SentencePiece, and Unigram after BPE</a:t>
            </a:r>
          </a:p>
        </p:txBody>
      </p:sp>
      <p:sp>
        <p:nvSpPr>
          <p:cNvPr id="4" name="accent-block">
            <a:extLst xmlns:a="http://schemas.openxmlformats.org/drawingml/2006/main">
              <a:ext uri="{FF2B5EF4-FFF2-40B4-BE49-F238E27FC236}">
                <a16:creationId xmlns:a16="http://schemas.microsoft.com/office/drawing/2014/main" id="{94019981-E5E2-4D5B-B79C-E1D8C423F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1219200"/>
            <a:ext cx="2628900" cy="3733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BAC819D6-FCCC-44FD-B1BC-96957363C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343150"/>
            <a:ext cx="209550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00000"/>
                </a:solidFill>
              </a:defRPr>
            </a:pPr>
            <a:r>
              <a:rPr sz="2550" b="1">
                <a:solidFill>
                  <a:srgbClr val="000000"/>
                </a:solidFill>
              </a:rPr>
              <a:t>WordPiece</a:t>
            </a:r>
          </a:p>
          <a:p xmlns:a="http://schemas.openxmlformats.org/drawingml/2006/main">
            <a:pPr algn="l">
              <a:defRPr sz="2550" b="1">
                <a:solidFill>
                  <a:srgbClr val="000000"/>
                </a:solidFill>
              </a:defRPr>
            </a:pPr>
            <a:r>
              <a:rPr sz="2550" b="1">
                <a:solidFill>
                  <a:srgbClr val="000000"/>
                </a:solidFill>
              </a:rPr>
              <a:t>SentencePiece</a:t>
            </a:r>
          </a:p>
          <a:p xmlns:a="http://schemas.openxmlformats.org/drawingml/2006/main">
            <a:pPr algn="l">
              <a:defRPr sz="2550" b="1">
                <a:solidFill>
                  <a:srgbClr val="000000"/>
                </a:solidFill>
              </a:defRPr>
            </a:pPr>
            <a:r>
              <a:rPr sz="2550" b="1">
                <a:solidFill>
                  <a:srgbClr val="000000"/>
                </a:solidFill>
              </a:rPr>
              <a:t>Unigram</a:t>
            </a:r>
          </a:p>
        </p:txBody>
      </p:sp>
      <p:sp>
        <p:nvSpPr>
          <p:cNvPr id="6" name="accent">
            <a:extLst xmlns:a="http://schemas.openxmlformats.org/drawingml/2006/main">
              <a:ext uri="{FF2B5EF4-FFF2-40B4-BE49-F238E27FC236}">
                <a16:creationId xmlns:a16="http://schemas.microsoft.com/office/drawing/2014/main" id="{00A6956F-2925-4CC1-8B63-D3FFEFEFA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5181600"/>
            <a:ext cx="2628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source">
            <a:extLst xmlns:a="http://schemas.openxmlformats.org/drawingml/2006/main">
              <a:ext uri="{FF2B5EF4-FFF2-40B4-BE49-F238E27FC236}">
                <a16:creationId xmlns:a16="http://schemas.microsoft.com/office/drawing/2014/main" id="{02282A9B-1235-44BA-8FA9-C96FA3D88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05550"/>
            <a:ext cx="933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55555"/>
                </a:solidFill>
              </a:defRPr>
            </a:pPr>
            <a:r>
              <a:rPr sz="825" b="0">
                <a:solidFill>
                  <a:srgbClr val="555555"/>
                </a:solidFill>
              </a:rPr>
              <a:t>Sources: Schuster &amp; Nakajima 2012; Wu et al. 2016; Kudo 2018; Kudo &amp; Richardson 2018.</a:t>
            </a:r>
          </a:p>
        </p:txBody>
      </p:sp>
      <p:sp>
        <p:nvSpPr>
          <p:cNvPr id="8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0306604A-AA17-45D2-8160-CDE9591C6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674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000000"/>
                </a:solidFill>
              </a:defRPr>
            </a:pPr>
            <a:r>
              <a:rPr sz="1125" b="0">
                <a:solidFill>
                  <a:srgbClr val="000000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205945304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ext">
            <a:extLst xmlns:a="http://schemas.openxmlformats.org/drawingml/2006/main">
              <a:ext uri="{FF2B5EF4-FFF2-40B4-BE49-F238E27FC236}">
                <a16:creationId xmlns:a16="http://schemas.microsoft.com/office/drawing/2014/main" id="{4AC4D118-8F5B-485D-B452-75E488F47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00000"/>
                </a:solidFill>
              </a:defRPr>
            </a:pPr>
            <a:r>
              <a:rPr sz="3000" b="1">
                <a:solidFill>
                  <a:srgbClr val="000000"/>
                </a:solidFill>
              </a:rPr>
              <a:t>Stemming and lemmatization reduce words before tokenization</a:t>
            </a:r>
          </a:p>
        </p:txBody>
      </p:sp>
      <p:sp>
        <p:nvSpPr>
          <p:cNvPr id="2" name="left-panel">
            <a:extLst xmlns:a="http://schemas.openxmlformats.org/drawingml/2006/main">
              <a:ext uri="{FF2B5EF4-FFF2-40B4-BE49-F238E27FC236}">
                <a16:creationId xmlns:a16="http://schemas.microsoft.com/office/drawing/2014/main" id="{BE534E6F-307C-4837-8C42-54C05F17B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38300"/>
            <a:ext cx="533400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" name="right-panel">
            <a:extLst xmlns:a="http://schemas.openxmlformats.org/drawingml/2006/main">
              <a:ext uri="{FF2B5EF4-FFF2-40B4-BE49-F238E27FC236}">
                <a16:creationId xmlns:a16="http://schemas.microsoft.com/office/drawing/2014/main" id="{34AEB83E-4098-4410-82E1-7870C4A9A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638300"/>
            <a:ext cx="533400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C5779569-F343-4D89-B55D-17F4BCED0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4310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0000"/>
                </a:solidFill>
              </a:defRPr>
            </a:pPr>
            <a:r>
              <a:rPr sz="2100" b="1">
                <a:solidFill>
                  <a:srgbClr val="000000"/>
                </a:solidFill>
              </a:rPr>
              <a:t>Stemming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D69C4641-3AC5-44D9-9473-E729D3C3E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09850"/>
            <a:ext cx="46482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00000"/>
                </a:solidFill>
              </a:defRPr>
            </a:pPr>
            <a:r>
              <a:rPr sz="1725" b="0">
                <a:solidFill>
                  <a:srgbClr val="000000"/>
                </a:solidFill>
              </a:rPr>
              <a:t>- Rule-based reduction to a shared stem, often not a dictionary word</a:t>
            </a:r>
          </a:p>
          <a:p xmlns:a="http://schemas.openxmlformats.org/drawingml/2006/main">
            <a:pPr algn="l">
              <a:defRPr sz="1725" b="0">
                <a:solidFill>
                  <a:srgbClr val="000000"/>
                </a:solidFill>
              </a:defRPr>
            </a:pPr>
            <a:r>
              <a:rPr sz="1725" b="0">
                <a:solidFill>
                  <a:srgbClr val="000000"/>
                </a:solidFill>
              </a:rPr>
              <a:t>- Lovins proposed a context-sensitive longest-match stemmer for English</a:t>
            </a:r>
          </a:p>
          <a:p xmlns:a="http://schemas.openxmlformats.org/drawingml/2006/main">
            <a:pPr algn="l">
              <a:defRPr sz="1725" b="0">
                <a:solidFill>
                  <a:srgbClr val="000000"/>
                </a:solidFill>
              </a:defRPr>
            </a:pPr>
            <a:r>
              <a:rPr sz="1725" b="0">
                <a:solidFill>
                  <a:srgbClr val="000000"/>
                </a:solidFill>
              </a:rPr>
              <a:t>- Goal: make related forms match in retrieval and linguistic processing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7D9CD2EB-1348-491C-BF45-CC6D983B3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94310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0000"/>
                </a:solidFill>
              </a:defRPr>
            </a:pPr>
            <a:r>
              <a:rPr sz="2100" b="1">
                <a:solidFill>
                  <a:srgbClr val="000000"/>
                </a:solidFill>
              </a:rPr>
              <a:t>Lemmatization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8B85842E-710F-4FAF-A27A-1EB2AB8DB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609850"/>
            <a:ext cx="46482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00000"/>
                </a:solidFill>
              </a:defRPr>
            </a:pPr>
            <a:r>
              <a:rPr sz="1725" b="0">
                <a:solidFill>
                  <a:srgbClr val="000000"/>
                </a:solidFill>
              </a:rPr>
              <a:t>- Maps an inflected form to its dictionary lemma</a:t>
            </a:r>
          </a:p>
          <a:p xmlns:a="http://schemas.openxmlformats.org/drawingml/2006/main">
            <a:pPr algn="l">
              <a:defRPr sz="1725" b="0">
                <a:solidFill>
                  <a:srgbClr val="000000"/>
                </a:solidFill>
              </a:defRPr>
            </a:pPr>
            <a:r>
              <a:rPr sz="1725" b="0">
                <a:solidFill>
                  <a:srgbClr val="000000"/>
                </a:solidFill>
              </a:rPr>
              <a:t>- Uses vocabulary and morphology, so it is linguistically cleaner but heavier</a:t>
            </a:r>
          </a:p>
          <a:p xmlns:a="http://schemas.openxmlformats.org/drawingml/2006/main">
            <a:pPr algn="l">
              <a:defRPr sz="1725" b="0">
                <a:solidFill>
                  <a:srgbClr val="000000"/>
                </a:solidFill>
              </a:defRPr>
            </a:pPr>
            <a:r>
              <a:rPr sz="1725" b="0">
                <a:solidFill>
                  <a:srgbClr val="000000"/>
                </a:solidFill>
              </a:rPr>
              <a:t>- Example contrast: computing -&gt; comput (stem), computing -&gt; compute (lemma)</a:t>
            </a:r>
          </a:p>
        </p:txBody>
      </p:sp>
      <p:sp>
        <p:nvSpPr>
          <p:cNvPr id="8" name="source">
            <a:extLst xmlns:a="http://schemas.openxmlformats.org/drawingml/2006/main">
              <a:ext uri="{FF2B5EF4-FFF2-40B4-BE49-F238E27FC236}">
                <a16:creationId xmlns:a16="http://schemas.microsoft.com/office/drawing/2014/main" id="{47CC63FB-74F4-4D10-9CA8-52A5516CC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05550"/>
            <a:ext cx="933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55555"/>
                </a:solidFill>
              </a:defRPr>
            </a:pPr>
            <a:r>
              <a:rPr sz="825" b="0">
                <a:solidFill>
                  <a:srgbClr val="555555"/>
                </a:solidFill>
              </a:rPr>
              <a:t>Sources: Lovins 1968; standard NLP distinction summarized for lemmatization.</a:t>
            </a:r>
          </a:p>
        </p:txBody>
      </p:sp>
      <p:sp>
        <p:nvSpPr>
          <p:cNvPr id="9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ED6E50B6-EC3B-4F69-8418-1A5740831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674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000000"/>
                </a:solidFill>
              </a:defRPr>
            </a:pPr>
            <a:r>
              <a:rPr sz="1125" b="0">
                <a:solidFill>
                  <a:srgbClr val="000000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38356334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ext">
            <a:extLst xmlns:a="http://schemas.openxmlformats.org/drawingml/2006/main">
              <a:ext uri="{FF2B5EF4-FFF2-40B4-BE49-F238E27FC236}">
                <a16:creationId xmlns:a16="http://schemas.microsoft.com/office/drawing/2014/main" id="{7B13F75C-2597-4A4A-82EE-7B3AADAC6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00000"/>
                </a:solidFill>
              </a:defRPr>
            </a:pPr>
            <a:r>
              <a:rPr sz="3000" b="1">
                <a:solidFill>
                  <a:srgbClr val="000000"/>
                </a:solidFill>
              </a:rPr>
              <a:t>Classical normalization is useful, but it is not a replacement for subword tokenization</a:t>
            </a:r>
          </a:p>
        </p:txBody>
      </p:sp>
      <p:sp>
        <p:nvSpPr>
          <p:cNvPr id="2" name="left-panel">
            <a:extLst xmlns:a="http://schemas.openxmlformats.org/drawingml/2006/main">
              <a:ext uri="{FF2B5EF4-FFF2-40B4-BE49-F238E27FC236}">
                <a16:creationId xmlns:a16="http://schemas.microsoft.com/office/drawing/2014/main" id="{80C37CE3-35BE-46BF-96B9-DA95107D1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38300"/>
            <a:ext cx="533400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" name="right-panel">
            <a:extLst xmlns:a="http://schemas.openxmlformats.org/drawingml/2006/main">
              <a:ext uri="{FF2B5EF4-FFF2-40B4-BE49-F238E27FC236}">
                <a16:creationId xmlns:a16="http://schemas.microsoft.com/office/drawing/2014/main" id="{95AF1755-735F-4A10-B866-B4B5C9D3F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638300"/>
            <a:ext cx="533400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83DDD258-68F4-4591-B748-A22FCEA59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4310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0000"/>
                </a:solidFill>
              </a:defRPr>
            </a:pPr>
            <a:r>
              <a:rPr sz="2100" b="1">
                <a:solidFill>
                  <a:srgbClr val="000000"/>
                </a:solidFill>
              </a:rPr>
              <a:t>Where it helps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A4878BD6-B2F6-4433-A864-AA29EA50A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09850"/>
            <a:ext cx="46482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00000"/>
                </a:solidFill>
              </a:defRPr>
            </a:pPr>
            <a:r>
              <a:rPr sz="1725" b="0">
                <a:solidFill>
                  <a:srgbClr val="000000"/>
                </a:solidFill>
              </a:rPr>
              <a:t>- Search and IR can benefit when related forms should match</a:t>
            </a:r>
          </a:p>
          <a:p xmlns:a="http://schemas.openxmlformats.org/drawingml/2006/main">
            <a:pPr algn="l">
              <a:defRPr sz="1725" b="0">
                <a:solidFill>
                  <a:srgbClr val="000000"/>
                </a:solidFill>
              </a:defRPr>
            </a:pPr>
            <a:r>
              <a:rPr sz="1725" b="0">
                <a:solidFill>
                  <a:srgbClr val="000000"/>
                </a:solidFill>
              </a:rPr>
              <a:t>- Morphological normalization can reduce surface variation</a:t>
            </a:r>
          </a:p>
          <a:p xmlns:a="http://schemas.openxmlformats.org/drawingml/2006/main">
            <a:pPr algn="l">
              <a:defRPr sz="1725" b="0">
                <a:solidFill>
                  <a:srgbClr val="000000"/>
                </a:solidFill>
              </a:defRPr>
            </a:pPr>
            <a:r>
              <a:rPr sz="1725" b="0">
                <a:solidFill>
                  <a:srgbClr val="000000"/>
                </a:solidFill>
              </a:rPr>
              <a:t>- It is interpretable when language rules are available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7EE0A780-B07D-4193-82A8-956774D9C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94310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0000"/>
                </a:solidFill>
              </a:defRPr>
            </a:pPr>
            <a:r>
              <a:rPr sz="2100" b="1">
                <a:solidFill>
                  <a:srgbClr val="000000"/>
                </a:solidFill>
              </a:rPr>
              <a:t>Why BPE-style tokenizers still matter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C4DC4529-96AF-40BF-946A-F8C4B35AF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609850"/>
            <a:ext cx="46482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00000"/>
                </a:solidFill>
              </a:defRPr>
            </a:pPr>
            <a:r>
              <a:rPr sz="1725" b="0">
                <a:solidFill>
                  <a:srgbClr val="000000"/>
                </a:solidFill>
              </a:rPr>
              <a:t>- Neural models need reversible token sequences, not just normalized stems</a:t>
            </a:r>
          </a:p>
          <a:p xmlns:a="http://schemas.openxmlformats.org/drawingml/2006/main">
            <a:pPr algn="l">
              <a:defRPr sz="1725" b="0">
                <a:solidFill>
                  <a:srgbClr val="000000"/>
                </a:solidFill>
              </a:defRPr>
            </a:pPr>
            <a:r>
              <a:rPr sz="1725" b="0">
                <a:solidFill>
                  <a:srgbClr val="000000"/>
                </a:solidFill>
              </a:rPr>
              <a:t>- Subword tokenization keeps spelling evidence and handles new strings</a:t>
            </a:r>
          </a:p>
          <a:p xmlns:a="http://schemas.openxmlformats.org/drawingml/2006/main">
            <a:pPr algn="l">
              <a:defRPr sz="1725" b="0">
                <a:solidFill>
                  <a:srgbClr val="000000"/>
                </a:solidFill>
              </a:defRPr>
            </a:pPr>
            <a:r>
              <a:rPr sz="1725" b="0">
                <a:solidFill>
                  <a:srgbClr val="000000"/>
                </a:solidFill>
              </a:rPr>
              <a:t>- For multilingual NLP, language-specific stemming rules do not scale cleanly</a:t>
            </a:r>
          </a:p>
        </p:txBody>
      </p:sp>
      <p:sp>
        <p:nvSpPr>
          <p:cNvPr id="8" name="source">
            <a:extLst xmlns:a="http://schemas.openxmlformats.org/drawingml/2006/main">
              <a:ext uri="{FF2B5EF4-FFF2-40B4-BE49-F238E27FC236}">
                <a16:creationId xmlns:a16="http://schemas.microsoft.com/office/drawing/2014/main" id="{487DBB0B-9A79-4067-9283-2C8A08E12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05550"/>
            <a:ext cx="933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55555"/>
                </a:solidFill>
              </a:defRPr>
            </a:pPr>
            <a:r>
              <a:rPr sz="825" b="0">
                <a:solidFill>
                  <a:srgbClr val="555555"/>
                </a:solidFill>
              </a:rPr>
              <a:t>Sources: Lovins 1968; Wu et al. 2016; Kudo &amp; Richardson 2018.</a:t>
            </a:r>
          </a:p>
        </p:txBody>
      </p:sp>
      <p:sp>
        <p:nvSpPr>
          <p:cNvPr id="9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ADBD1193-54DF-449A-947E-BABEB79F6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674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000000"/>
                </a:solidFill>
              </a:defRPr>
            </a:pPr>
            <a:r>
              <a:rPr sz="1125" b="0">
                <a:solidFill>
                  <a:srgbClr val="000000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91995486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ext">
            <a:extLst xmlns:a="http://schemas.openxmlformats.org/drawingml/2006/main">
              <a:ext uri="{FF2B5EF4-FFF2-40B4-BE49-F238E27FC236}">
                <a16:creationId xmlns:a16="http://schemas.microsoft.com/office/drawing/2014/main" id="{62774DFD-89E8-45B5-A86A-D2F969F95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00000"/>
                </a:solidFill>
              </a:defRPr>
            </a:pPr>
            <a:r>
              <a:rPr sz="3000" b="1">
                <a:solidFill>
                  <a:srgbClr val="000000"/>
                </a:solidFill>
              </a:rPr>
              <a:t>BPE solved open vocabulary pressure, but its greedy frequency rule left room for alternatives</a:t>
            </a:r>
          </a:p>
        </p:txBody>
      </p:sp>
      <p:sp>
        <p:nvSpPr>
          <p:cNvPr id="2" name="step-0">
            <a:extLst xmlns:a="http://schemas.openxmlformats.org/drawingml/2006/main">
              <a:ext uri="{FF2B5EF4-FFF2-40B4-BE49-F238E27FC236}">
                <a16:creationId xmlns:a16="http://schemas.microsoft.com/office/drawing/2014/main" id="{5D1FFC71-C8E9-4011-B5E9-7D039792A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38350"/>
            <a:ext cx="24955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C9BA1F09-A6EF-40F5-BEFE-E132D1A6E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66950"/>
            <a:ext cx="609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6B35"/>
                </a:solidFill>
              </a:defRPr>
            </a:pPr>
            <a:r>
              <a:rPr sz="1800" b="1">
                <a:solidFill>
                  <a:srgbClr val="FF6B35"/>
                </a:solidFill>
              </a:rPr>
              <a:t>01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2527EFD7-A6A9-4D82-8EDD-FEF11103A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724150"/>
            <a:ext cx="20383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00000"/>
                </a:solidFill>
              </a:defRPr>
            </a:pPr>
            <a:r>
              <a:rPr sz="2025" b="1">
                <a:solidFill>
                  <a:srgbClr val="000000"/>
                </a:solidFill>
              </a:rPr>
              <a:t>Word vocabularies break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75D80B00-A116-4188-9A19-5A258FE80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409950"/>
            <a:ext cx="2038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Names, numbers, dates, and rich morphology create many unseen word forms.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1CDB0A75-29A7-435F-B9CF-F75CAFB9C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819400"/>
            <a:ext cx="361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6B35"/>
                </a:solidFill>
              </a:defRPr>
            </a:pPr>
            <a:r>
              <a:rPr sz="2100" b="1">
                <a:solidFill>
                  <a:srgbClr val="FF6B35"/>
                </a:solidFill>
              </a:rPr>
              <a:t>-&gt;</a:t>
            </a:r>
          </a:p>
        </p:txBody>
      </p:sp>
      <p:sp>
        <p:nvSpPr>
          <p:cNvPr id="7" name="step-1">
            <a:extLst xmlns:a="http://schemas.openxmlformats.org/drawingml/2006/main">
              <a:ext uri="{FF2B5EF4-FFF2-40B4-BE49-F238E27FC236}">
                <a16:creationId xmlns:a16="http://schemas.microsoft.com/office/drawing/2014/main" id="{B80226A7-0F23-4774-86AB-275192C3A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2038350"/>
            <a:ext cx="24955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32942D2F-93DA-4958-9646-700E9BD47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2266950"/>
            <a:ext cx="609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6B35"/>
                </a:solidFill>
              </a:defRPr>
            </a:pPr>
            <a:r>
              <a:rPr sz="1800" b="1">
                <a:solidFill>
                  <a:srgbClr val="FF6B35"/>
                </a:solidFill>
              </a:rPr>
              <a:t>02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FDA8B1A7-1E47-489B-AC00-3FA0FBC84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2724150"/>
            <a:ext cx="20383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00000"/>
                </a:solidFill>
              </a:defRPr>
            </a:pPr>
            <a:r>
              <a:rPr sz="2025" b="1">
                <a:solidFill>
                  <a:srgbClr val="000000"/>
                </a:solidFill>
              </a:rPr>
              <a:t>BPE merges often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6B14ABB4-E6D0-42BB-B984-CD4D70ED1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3409950"/>
            <a:ext cx="2038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BPE builds upward by repeatedly merging frequent adjacent symbols.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D695467E-3FCF-4685-9D7A-7FE958661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2819400"/>
            <a:ext cx="361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6B35"/>
                </a:solidFill>
              </a:defRPr>
            </a:pPr>
            <a:r>
              <a:rPr sz="2100" b="1">
                <a:solidFill>
                  <a:srgbClr val="FF6B35"/>
                </a:solidFill>
              </a:rPr>
              <a:t>-&gt;</a:t>
            </a:r>
          </a:p>
        </p:txBody>
      </p:sp>
      <p:sp>
        <p:nvSpPr>
          <p:cNvPr id="12" name="step-2">
            <a:extLst xmlns:a="http://schemas.openxmlformats.org/drawingml/2006/main">
              <a:ext uri="{FF2B5EF4-FFF2-40B4-BE49-F238E27FC236}">
                <a16:creationId xmlns:a16="http://schemas.microsoft.com/office/drawing/2014/main" id="{9CBE0C67-FCDF-4777-B4A6-703D80422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038350"/>
            <a:ext cx="24955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447E7CD3-02E5-45A4-9EE6-B6B45B6FA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266950"/>
            <a:ext cx="609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6B35"/>
                </a:solidFill>
              </a:defRPr>
            </a:pPr>
            <a:r>
              <a:rPr sz="1800" b="1">
                <a:solidFill>
                  <a:srgbClr val="FF6B35"/>
                </a:solidFill>
              </a:rPr>
              <a:t>03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53BC4B06-9DF0-45D7-92C1-46CBAD025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724150"/>
            <a:ext cx="20383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00000"/>
                </a:solidFill>
              </a:defRPr>
            </a:pPr>
            <a:r>
              <a:rPr sz="2025" b="1">
                <a:solidFill>
                  <a:srgbClr val="000000"/>
                </a:solidFill>
              </a:rPr>
              <a:t>But frequency is local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0060CE96-A544-4F25-80E5-F14DD1EAD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409950"/>
            <a:ext cx="2038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A frequent pair is not always the pair that best explains the corpus probabilistically.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D09913C8-685D-4447-9D08-E8524CB76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819400"/>
            <a:ext cx="361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6B35"/>
                </a:solidFill>
              </a:defRPr>
            </a:pPr>
            <a:r>
              <a:rPr sz="2100" b="1">
                <a:solidFill>
                  <a:srgbClr val="FF6B35"/>
                </a:solidFill>
              </a:rPr>
              <a:t>-&gt;</a:t>
            </a:r>
          </a:p>
        </p:txBody>
      </p:sp>
      <p:sp>
        <p:nvSpPr>
          <p:cNvPr id="17" name="step-3">
            <a:extLst xmlns:a="http://schemas.openxmlformats.org/drawingml/2006/main">
              <a:ext uri="{FF2B5EF4-FFF2-40B4-BE49-F238E27FC236}">
                <a16:creationId xmlns:a16="http://schemas.microsoft.com/office/drawing/2014/main" id="{B5284E5F-4A7D-483E-B652-FA4C373D5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425" y="2038350"/>
            <a:ext cx="24955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AE86EA91-F9C7-484A-B19B-945C0D343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2266950"/>
            <a:ext cx="609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6B35"/>
                </a:solidFill>
              </a:defRPr>
            </a:pPr>
            <a:r>
              <a:rPr sz="1800" b="1">
                <a:solidFill>
                  <a:srgbClr val="FF6B35"/>
                </a:solidFill>
              </a:rPr>
              <a:t>04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C325417E-378C-4A8F-BB44-0F61AF74D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2724150"/>
            <a:ext cx="20383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00000"/>
                </a:solidFill>
              </a:defRPr>
            </a:pPr>
            <a:r>
              <a:rPr sz="2025" b="1">
                <a:solidFill>
                  <a:srgbClr val="000000"/>
                </a:solidFill>
              </a:rPr>
              <a:t>Alternatives ask more</a:t>
            </a:r>
          </a:p>
        </p:txBody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35B3DD68-9050-40B8-9CF0-5F467DCA8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3409950"/>
            <a:ext cx="2038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WordPiece and Unigram add likelihood-based objectives; SentencePiece removes pre-tokenization assumptions.</a:t>
            </a:r>
          </a:p>
        </p:txBody>
      </p:sp>
      <p:sp>
        <p:nvSpPr>
          <p:cNvPr id="21" name="source">
            <a:extLst xmlns:a="http://schemas.openxmlformats.org/drawingml/2006/main">
              <a:ext uri="{FF2B5EF4-FFF2-40B4-BE49-F238E27FC236}">
                <a16:creationId xmlns:a16="http://schemas.microsoft.com/office/drawing/2014/main" id="{9C6997D7-9C4B-4B4B-9D7A-719868F21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05550"/>
            <a:ext cx="933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55555"/>
                </a:solidFill>
              </a:defRPr>
            </a:pPr>
            <a:r>
              <a:rPr sz="825" b="0">
                <a:solidFill>
                  <a:srgbClr val="555555"/>
                </a:solidFill>
              </a:rPr>
              <a:t>Sources: Wu et al. 2016; Kudo 2018; Kudo &amp; Richardson 2018.</a:t>
            </a:r>
          </a:p>
        </p:txBody>
      </p:sp>
      <p:sp>
        <p:nvSpPr>
          <p:cNvPr id="22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D9732DA2-42C1-4985-AFCB-9A909DC55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674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000000"/>
                </a:solidFill>
              </a:defRPr>
            </a:pPr>
            <a:r>
              <a:rPr sz="1125" b="0">
                <a:solidFill>
                  <a:srgbClr val="000000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3455059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ext">
            <a:extLst xmlns:a="http://schemas.openxmlformats.org/drawingml/2006/main">
              <a:ext uri="{FF2B5EF4-FFF2-40B4-BE49-F238E27FC236}">
                <a16:creationId xmlns:a16="http://schemas.microsoft.com/office/drawing/2014/main" id="{60000498-BDE1-4ED4-88C1-13F0CA3A7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00000"/>
                </a:solidFill>
              </a:defRPr>
            </a:pPr>
            <a:r>
              <a:rPr sz="3000" b="1">
                <a:solidFill>
                  <a:srgbClr val="000000"/>
                </a:solidFill>
              </a:rPr>
              <a:t>WordPiece builds a vocabulary by choosing pieces that improve corpus likelihood</a:t>
            </a:r>
          </a:p>
        </p:txBody>
      </p:sp>
      <p:sp>
        <p:nvSpPr>
          <p:cNvPr id="2" name="step-0">
            <a:extLst xmlns:a="http://schemas.openxmlformats.org/drawingml/2006/main">
              <a:ext uri="{FF2B5EF4-FFF2-40B4-BE49-F238E27FC236}">
                <a16:creationId xmlns:a16="http://schemas.microsoft.com/office/drawing/2014/main" id="{5CC9B6EA-5DAD-485B-8A04-0C4FAB0D5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38350"/>
            <a:ext cx="24955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E15BB201-42D8-4778-813E-067FA85B4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66950"/>
            <a:ext cx="609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6B35"/>
                </a:solidFill>
              </a:defRPr>
            </a:pPr>
            <a:r>
              <a:rPr sz="1800" b="1">
                <a:solidFill>
                  <a:srgbClr val="FF6B35"/>
                </a:solidFill>
              </a:rPr>
              <a:t>01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4617C77F-4828-42D2-901A-9567C4A38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724150"/>
            <a:ext cx="20383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00000"/>
                </a:solidFill>
              </a:defRPr>
            </a:pPr>
            <a:r>
              <a:rPr sz="2025" b="1">
                <a:solidFill>
                  <a:srgbClr val="000000"/>
                </a:solidFill>
              </a:rPr>
              <a:t>Start small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EB2F7FBA-AA1B-42B2-9909-1B47A12EB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409950"/>
            <a:ext cx="2038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Begin from characters or short units plus boundary conventions.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CD260CFC-6BA6-4C8E-94C6-27A5356AA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819400"/>
            <a:ext cx="361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6B35"/>
                </a:solidFill>
              </a:defRPr>
            </a:pPr>
            <a:r>
              <a:rPr sz="2100" b="1">
                <a:solidFill>
                  <a:srgbClr val="FF6B35"/>
                </a:solidFill>
              </a:rPr>
              <a:t>-&gt;</a:t>
            </a:r>
          </a:p>
        </p:txBody>
      </p:sp>
      <p:sp>
        <p:nvSpPr>
          <p:cNvPr id="7" name="step-1">
            <a:extLst xmlns:a="http://schemas.openxmlformats.org/drawingml/2006/main">
              <a:ext uri="{FF2B5EF4-FFF2-40B4-BE49-F238E27FC236}">
                <a16:creationId xmlns:a16="http://schemas.microsoft.com/office/drawing/2014/main" id="{70A07B75-97F3-413D-8295-745EC4477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2038350"/>
            <a:ext cx="24955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66825C97-C9C5-44FD-A98C-9803886FB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2266950"/>
            <a:ext cx="609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6B35"/>
                </a:solidFill>
              </a:defRPr>
            </a:pPr>
            <a:r>
              <a:rPr sz="1800" b="1">
                <a:solidFill>
                  <a:srgbClr val="FF6B35"/>
                </a:solidFill>
              </a:rPr>
              <a:t>02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1859956D-EDB7-4574-85BB-583F25734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2724150"/>
            <a:ext cx="20383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00000"/>
                </a:solidFill>
              </a:defRPr>
            </a:pPr>
            <a:r>
              <a:rPr sz="2025" b="1">
                <a:solidFill>
                  <a:srgbClr val="000000"/>
                </a:solidFill>
              </a:rPr>
              <a:t>Score candidates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7B14401D-2DAD-4308-8355-35988EAF3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3409950"/>
            <a:ext cx="2038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Unlike BPE's raw frequency rule, WordPiece uses a likelihood objective.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62993CD0-60ED-44F0-8FD3-5BADC55E1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2819400"/>
            <a:ext cx="361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6B35"/>
                </a:solidFill>
              </a:defRPr>
            </a:pPr>
            <a:r>
              <a:rPr sz="2100" b="1">
                <a:solidFill>
                  <a:srgbClr val="FF6B35"/>
                </a:solidFill>
              </a:rPr>
              <a:t>-&gt;</a:t>
            </a:r>
          </a:p>
        </p:txBody>
      </p:sp>
      <p:sp>
        <p:nvSpPr>
          <p:cNvPr id="12" name="step-2">
            <a:extLst xmlns:a="http://schemas.openxmlformats.org/drawingml/2006/main">
              <a:ext uri="{FF2B5EF4-FFF2-40B4-BE49-F238E27FC236}">
                <a16:creationId xmlns:a16="http://schemas.microsoft.com/office/drawing/2014/main" id="{10ED7A02-53B3-4D11-8672-B5FBA23C8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038350"/>
            <a:ext cx="24955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578622E0-0FDD-4900-9672-83AE7FD40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266950"/>
            <a:ext cx="609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6B35"/>
                </a:solidFill>
              </a:defRPr>
            </a:pPr>
            <a:r>
              <a:rPr sz="1800" b="1">
                <a:solidFill>
                  <a:srgbClr val="FF6B35"/>
                </a:solidFill>
              </a:rPr>
              <a:t>03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974037C9-CFBE-463E-BABF-13A1DBD9F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724150"/>
            <a:ext cx="20383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00000"/>
                </a:solidFill>
              </a:defRPr>
            </a:pPr>
            <a:r>
              <a:rPr sz="2025" b="1">
                <a:solidFill>
                  <a:srgbClr val="000000"/>
                </a:solidFill>
              </a:rPr>
              <a:t>Grow vocabulary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79603D96-D2DC-4F9D-9822-49517D36B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409950"/>
            <a:ext cx="2038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Add the candidate that best improves the training corpus model.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3FD80FB1-32B8-4DC6-AAE4-2BA09558F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819400"/>
            <a:ext cx="361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6B35"/>
                </a:solidFill>
              </a:defRPr>
            </a:pPr>
            <a:r>
              <a:rPr sz="2100" b="1">
                <a:solidFill>
                  <a:srgbClr val="FF6B35"/>
                </a:solidFill>
              </a:rPr>
              <a:t>-&gt;</a:t>
            </a:r>
          </a:p>
        </p:txBody>
      </p:sp>
      <p:sp>
        <p:nvSpPr>
          <p:cNvPr id="17" name="step-3">
            <a:extLst xmlns:a="http://schemas.openxmlformats.org/drawingml/2006/main">
              <a:ext uri="{FF2B5EF4-FFF2-40B4-BE49-F238E27FC236}">
                <a16:creationId xmlns:a16="http://schemas.microsoft.com/office/drawing/2014/main" id="{ED97AE25-7C18-4A9E-B931-C9900329F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425" y="2038350"/>
            <a:ext cx="24955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D605ED02-2D47-43A5-9BD3-C6E9F9B9D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2266950"/>
            <a:ext cx="609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6B35"/>
                </a:solidFill>
              </a:defRPr>
            </a:pPr>
            <a:r>
              <a:rPr sz="1800" b="1">
                <a:solidFill>
                  <a:srgbClr val="FF6B35"/>
                </a:solidFill>
              </a:rPr>
              <a:t>04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7015D133-AFCA-45DF-850D-F087814F6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2724150"/>
            <a:ext cx="20383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00000"/>
                </a:solidFill>
              </a:defRPr>
            </a:pPr>
            <a:r>
              <a:rPr sz="2025" b="1">
                <a:solidFill>
                  <a:srgbClr val="000000"/>
                </a:solidFill>
              </a:rPr>
              <a:t>Segment greedily</a:t>
            </a:r>
          </a:p>
        </p:txBody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96AFCCFD-2A02-4799-9381-0583E4B6D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3409950"/>
            <a:ext cx="2038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At tokenization time, known words are broken into vocabulary pieces.</a:t>
            </a:r>
          </a:p>
        </p:txBody>
      </p:sp>
      <p:sp>
        <p:nvSpPr>
          <p:cNvPr id="21" name="source">
            <a:extLst xmlns:a="http://schemas.openxmlformats.org/drawingml/2006/main">
              <a:ext uri="{FF2B5EF4-FFF2-40B4-BE49-F238E27FC236}">
                <a16:creationId xmlns:a16="http://schemas.microsoft.com/office/drawing/2014/main" id="{D9C6633D-0A44-4B48-B261-9D847AFB7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05550"/>
            <a:ext cx="933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55555"/>
                </a:solidFill>
              </a:defRPr>
            </a:pPr>
            <a:r>
              <a:rPr sz="825" b="0">
                <a:solidFill>
                  <a:srgbClr val="555555"/>
                </a:solidFill>
              </a:rPr>
              <a:t>Sources: Schuster &amp; Nakajima 2012; Wu et al. 2016; Kudo 2018, footnote on WordPiece likelihood.</a:t>
            </a:r>
          </a:p>
        </p:txBody>
      </p:sp>
      <p:sp>
        <p:nvSpPr>
          <p:cNvPr id="22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FB0B4209-8A39-4BBE-BEF8-15882CCB3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674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000000"/>
                </a:solidFill>
              </a:defRPr>
            </a:pPr>
            <a:r>
              <a:rPr sz="1125" b="0">
                <a:solidFill>
                  <a:srgbClr val="000000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09978531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ext">
            <a:extLst xmlns:a="http://schemas.openxmlformats.org/drawingml/2006/main">
              <a:ext uri="{FF2B5EF4-FFF2-40B4-BE49-F238E27FC236}">
                <a16:creationId xmlns:a16="http://schemas.microsoft.com/office/drawing/2014/main" id="{20F9EE9A-D3F8-4C2B-BC44-F42FEEBF2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00000"/>
                </a:solidFill>
              </a:defRPr>
            </a:pPr>
            <a:r>
              <a:rPr sz="3000" b="1">
                <a:solidFill>
                  <a:srgbClr val="000000"/>
                </a:solidFill>
              </a:rPr>
              <a:t>The ## prefix marks that a piece continues a word</a:t>
            </a:r>
          </a:p>
        </p:txBody>
      </p:sp>
      <p:sp>
        <p:nvSpPr>
          <p:cNvPr id="2" name="left-panel">
            <a:extLst xmlns:a="http://schemas.openxmlformats.org/drawingml/2006/main">
              <a:ext uri="{FF2B5EF4-FFF2-40B4-BE49-F238E27FC236}">
                <a16:creationId xmlns:a16="http://schemas.microsoft.com/office/drawing/2014/main" id="{3C35AD66-11ED-4049-AA89-34874EEC3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38300"/>
            <a:ext cx="533400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" name="right-panel">
            <a:extLst xmlns:a="http://schemas.openxmlformats.org/drawingml/2006/main">
              <a:ext uri="{FF2B5EF4-FFF2-40B4-BE49-F238E27FC236}">
                <a16:creationId xmlns:a16="http://schemas.microsoft.com/office/drawing/2014/main" id="{7B013121-1594-4E55-9131-11F6C7EE5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638300"/>
            <a:ext cx="533400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79C4CCB8-4990-4245-9328-821A67224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4310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0000"/>
                </a:solidFill>
              </a:defRPr>
            </a:pPr>
            <a:r>
              <a:rPr sz="2100" b="1">
                <a:solidFill>
                  <a:srgbClr val="000000"/>
                </a:solidFill>
              </a:rPr>
              <a:t>Example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D931833F-3067-4C49-884D-7AFC1FE9E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09850"/>
            <a:ext cx="46482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00000"/>
                </a:solidFill>
              </a:defRPr>
            </a:pPr>
            <a:r>
              <a:rPr sz="1725" b="0">
                <a:solidFill>
                  <a:srgbClr val="000000"/>
                </a:solidFill>
              </a:rPr>
              <a:t>- playing -&gt; play + ##ing</a:t>
            </a:r>
          </a:p>
          <a:p xmlns:a="http://schemas.openxmlformats.org/drawingml/2006/main">
            <a:pPr algn="l">
              <a:defRPr sz="1725" b="0">
                <a:solidFill>
                  <a:srgbClr val="000000"/>
                </a:solidFill>
              </a:defRPr>
            </a:pPr>
            <a:r>
              <a:rPr sz="1725" b="0">
                <a:solidFill>
                  <a:srgbClr val="000000"/>
                </a:solidFill>
              </a:rPr>
              <a:t>- unaffable -&gt; un + ##aff + ##able</a:t>
            </a:r>
          </a:p>
          <a:p xmlns:a="http://schemas.openxmlformats.org/drawingml/2006/main">
            <a:pPr algn="l">
              <a:defRPr sz="1725" b="0">
                <a:solidFill>
                  <a:srgbClr val="000000"/>
                </a:solidFill>
              </a:defRPr>
            </a:pPr>
            <a:r>
              <a:rPr sz="1725" b="0">
                <a:solidFill>
                  <a:srgbClr val="000000"/>
                </a:solidFill>
              </a:rPr>
              <a:t>- The prefix is metadata, not part of the original spelling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97758F2D-E1A5-4548-B821-62812838F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94310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0000"/>
                </a:solidFill>
              </a:defRPr>
            </a:pPr>
            <a:r>
              <a:rPr sz="2100" b="1">
                <a:solidFill>
                  <a:srgbClr val="000000"/>
                </a:solidFill>
              </a:rPr>
              <a:t>Why it exists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54F9F6D3-75FC-4435-9749-FDA0D3A13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609850"/>
            <a:ext cx="46482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00000"/>
                </a:solidFill>
              </a:defRPr>
            </a:pPr>
            <a:r>
              <a:rPr sz="1725" b="0">
                <a:solidFill>
                  <a:srgbClr val="000000"/>
                </a:solidFill>
              </a:rPr>
              <a:t>- It preserves word-internal position after splitting</a:t>
            </a:r>
          </a:p>
          <a:p xmlns:a="http://schemas.openxmlformats.org/drawingml/2006/main">
            <a:pPr algn="l">
              <a:defRPr sz="1725" b="0">
                <a:solidFill>
                  <a:srgbClr val="000000"/>
                </a:solidFill>
              </a:defRPr>
            </a:pPr>
            <a:r>
              <a:rPr sz="1725" b="0">
                <a:solidFill>
                  <a:srgbClr val="000000"/>
                </a:solidFill>
              </a:rPr>
              <a:t>- It helps distinguish a standalone token from a continuation token</a:t>
            </a:r>
          </a:p>
          <a:p xmlns:a="http://schemas.openxmlformats.org/drawingml/2006/main">
            <a:pPr algn="l">
              <a:defRPr sz="1725" b="0">
                <a:solidFill>
                  <a:srgbClr val="000000"/>
                </a:solidFill>
              </a:defRPr>
            </a:pPr>
            <a:r>
              <a:rPr sz="1725" b="0">
                <a:solidFill>
                  <a:srgbClr val="000000"/>
                </a:solidFill>
              </a:rPr>
              <a:t>- GNMT used a related boundary marker, _, to make word recovery unambiguous</a:t>
            </a:r>
          </a:p>
        </p:txBody>
      </p:sp>
      <p:sp>
        <p:nvSpPr>
          <p:cNvPr id="8" name="source">
            <a:extLst xmlns:a="http://schemas.openxmlformats.org/drawingml/2006/main">
              <a:ext uri="{FF2B5EF4-FFF2-40B4-BE49-F238E27FC236}">
                <a16:creationId xmlns:a16="http://schemas.microsoft.com/office/drawing/2014/main" id="{63B81F45-2069-4045-BF2A-5307C14CA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05550"/>
            <a:ext cx="933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55555"/>
                </a:solidFill>
              </a:defRPr>
            </a:pPr>
            <a:r>
              <a:rPr sz="825" b="0">
                <a:solidFill>
                  <a:srgbClr val="555555"/>
                </a:solidFill>
              </a:rPr>
              <a:t>Sources: Wu et al. 2016; Devlin et al. 2018 for BERT WordPiece convention.</a:t>
            </a:r>
          </a:p>
        </p:txBody>
      </p:sp>
      <p:sp>
        <p:nvSpPr>
          <p:cNvPr id="9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109C0B8B-9EF7-4246-ACF1-75137424E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674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000000"/>
                </a:solidFill>
              </a:defRPr>
            </a:pPr>
            <a:r>
              <a:rPr sz="1125" b="0">
                <a:solidFill>
                  <a:srgbClr val="000000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56608659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ext">
            <a:extLst xmlns:a="http://schemas.openxmlformats.org/drawingml/2006/main">
              <a:ext uri="{FF2B5EF4-FFF2-40B4-BE49-F238E27FC236}">
                <a16:creationId xmlns:a16="http://schemas.microsoft.com/office/drawing/2014/main" id="{349413D5-946D-4D8F-A931-61A609EF9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00000"/>
                </a:solidFill>
              </a:defRPr>
            </a:pPr>
            <a:r>
              <a:rPr sz="3000" b="1">
                <a:solidFill>
                  <a:srgbClr val="000000"/>
                </a:solidFill>
              </a:rPr>
              <a:t>Unigram reverses the direction: start large, then prune</a:t>
            </a:r>
          </a:p>
        </p:txBody>
      </p:sp>
      <p:sp>
        <p:nvSpPr>
          <p:cNvPr id="2" name="step-0">
            <a:extLst xmlns:a="http://schemas.openxmlformats.org/drawingml/2006/main">
              <a:ext uri="{FF2B5EF4-FFF2-40B4-BE49-F238E27FC236}">
                <a16:creationId xmlns:a16="http://schemas.microsoft.com/office/drawing/2014/main" id="{D182307C-CBBB-41B2-BDF1-AFBAA141A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38350"/>
            <a:ext cx="24955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271BB03C-0D8E-4CAE-B863-636AB553D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66950"/>
            <a:ext cx="609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6B35"/>
                </a:solidFill>
              </a:defRPr>
            </a:pPr>
            <a:r>
              <a:rPr sz="1800" b="1">
                <a:solidFill>
                  <a:srgbClr val="FF6B35"/>
                </a:solidFill>
              </a:rPr>
              <a:t>01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87F02FB3-0F05-41D3-B69F-17D447C1B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724150"/>
            <a:ext cx="20383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00000"/>
                </a:solidFill>
              </a:defRPr>
            </a:pPr>
            <a:r>
              <a:rPr sz="2025" b="1">
                <a:solidFill>
                  <a:srgbClr val="000000"/>
                </a:solidFill>
              </a:rPr>
              <a:t>Seed many pieces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78074DEB-5831-40C1-8E72-D011AB6C2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409950"/>
            <a:ext cx="2038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Initialize with a large candidate vocabulary.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F8C8CD2D-9436-4172-96A1-A889FB424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819400"/>
            <a:ext cx="361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6B35"/>
                </a:solidFill>
              </a:defRPr>
            </a:pPr>
            <a:r>
              <a:rPr sz="2100" b="1">
                <a:solidFill>
                  <a:srgbClr val="FF6B35"/>
                </a:solidFill>
              </a:rPr>
              <a:t>-&gt;</a:t>
            </a:r>
          </a:p>
        </p:txBody>
      </p:sp>
      <p:sp>
        <p:nvSpPr>
          <p:cNvPr id="7" name="step-1">
            <a:extLst xmlns:a="http://schemas.openxmlformats.org/drawingml/2006/main">
              <a:ext uri="{FF2B5EF4-FFF2-40B4-BE49-F238E27FC236}">
                <a16:creationId xmlns:a16="http://schemas.microsoft.com/office/drawing/2014/main" id="{B5AB3ED1-D85E-4895-A3EE-1DE90456A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2038350"/>
            <a:ext cx="24955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FDB75753-D451-4908-9AF7-D193C3B92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2266950"/>
            <a:ext cx="609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6B35"/>
                </a:solidFill>
              </a:defRPr>
            </a:pPr>
            <a:r>
              <a:rPr sz="1800" b="1">
                <a:solidFill>
                  <a:srgbClr val="FF6B35"/>
                </a:solidFill>
              </a:rPr>
              <a:t>02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E6DFA7CB-23B5-4182-A24E-74159C196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2724150"/>
            <a:ext cx="20383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00000"/>
                </a:solidFill>
              </a:defRPr>
            </a:pPr>
            <a:r>
              <a:rPr sz="2025" b="1">
                <a:solidFill>
                  <a:srgbClr val="000000"/>
                </a:solidFill>
              </a:rPr>
              <a:t>Estimate probabilities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2C7640AC-6531-4ADE-AC43-EB26DAEE8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3409950"/>
            <a:ext cx="2038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Use a unigram language model over possible segmentations.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70152FEC-065F-4C76-95F6-C759881D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2819400"/>
            <a:ext cx="361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6B35"/>
                </a:solidFill>
              </a:defRPr>
            </a:pPr>
            <a:r>
              <a:rPr sz="2100" b="1">
                <a:solidFill>
                  <a:srgbClr val="FF6B35"/>
                </a:solidFill>
              </a:rPr>
              <a:t>-&gt;</a:t>
            </a:r>
          </a:p>
        </p:txBody>
      </p:sp>
      <p:sp>
        <p:nvSpPr>
          <p:cNvPr id="12" name="step-2">
            <a:extLst xmlns:a="http://schemas.openxmlformats.org/drawingml/2006/main">
              <a:ext uri="{FF2B5EF4-FFF2-40B4-BE49-F238E27FC236}">
                <a16:creationId xmlns:a16="http://schemas.microsoft.com/office/drawing/2014/main" id="{F6C83570-5592-4C1E-978E-F0D60E2E5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038350"/>
            <a:ext cx="24955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A5DAB80D-D4A2-4865-88D3-AD2CA7D3E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266950"/>
            <a:ext cx="609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6B35"/>
                </a:solidFill>
              </a:defRPr>
            </a:pPr>
            <a:r>
              <a:rPr sz="1800" b="1">
                <a:solidFill>
                  <a:srgbClr val="FF6B35"/>
                </a:solidFill>
              </a:rPr>
              <a:t>03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9A198C12-7936-477D-BE7D-28A74A83D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724150"/>
            <a:ext cx="20383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00000"/>
                </a:solidFill>
              </a:defRPr>
            </a:pPr>
            <a:r>
              <a:rPr sz="2025" b="1">
                <a:solidFill>
                  <a:srgbClr val="000000"/>
                </a:solidFill>
              </a:rPr>
              <a:t>Remove weak pieces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0EE16C49-91D3-4E08-BFA5-543316772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409950"/>
            <a:ext cx="2038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Prune tokens whose removal least reduces corpus likelihood.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2F6868ED-5556-4C11-BC79-D33035B0C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819400"/>
            <a:ext cx="361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6B35"/>
                </a:solidFill>
              </a:defRPr>
            </a:pPr>
            <a:r>
              <a:rPr sz="2100" b="1">
                <a:solidFill>
                  <a:srgbClr val="FF6B35"/>
                </a:solidFill>
              </a:rPr>
              <a:t>-&gt;</a:t>
            </a:r>
          </a:p>
        </p:txBody>
      </p:sp>
      <p:sp>
        <p:nvSpPr>
          <p:cNvPr id="17" name="step-3">
            <a:extLst xmlns:a="http://schemas.openxmlformats.org/drawingml/2006/main">
              <a:ext uri="{FF2B5EF4-FFF2-40B4-BE49-F238E27FC236}">
                <a16:creationId xmlns:a16="http://schemas.microsoft.com/office/drawing/2014/main" id="{D2EACDC2-8BDE-43BD-B614-C7BE067E7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425" y="2038350"/>
            <a:ext cx="24955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76C16DE7-8AC3-4C21-AF63-CAFAC628B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2266950"/>
            <a:ext cx="609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6B35"/>
                </a:solidFill>
              </a:defRPr>
            </a:pPr>
            <a:r>
              <a:rPr sz="1800" b="1">
                <a:solidFill>
                  <a:srgbClr val="FF6B35"/>
                </a:solidFill>
              </a:rPr>
              <a:t>04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280B2D68-5ED0-45CA-8F7F-A2DEFFC53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2724150"/>
            <a:ext cx="20383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00000"/>
                </a:solidFill>
              </a:defRPr>
            </a:pPr>
            <a:r>
              <a:rPr sz="2025" b="1">
                <a:solidFill>
                  <a:srgbClr val="000000"/>
                </a:solidFill>
              </a:rPr>
              <a:t>Keep ambiguity</a:t>
            </a:r>
          </a:p>
        </p:txBody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83DD4630-8C9A-4EE2-B05C-534093740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3409950"/>
            <a:ext cx="2038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The model can assign probabilities to multiple segmentations.</a:t>
            </a:r>
          </a:p>
        </p:txBody>
      </p:sp>
      <p:sp>
        <p:nvSpPr>
          <p:cNvPr id="21" name="source">
            <a:extLst xmlns:a="http://schemas.openxmlformats.org/drawingml/2006/main">
              <a:ext uri="{FF2B5EF4-FFF2-40B4-BE49-F238E27FC236}">
                <a16:creationId xmlns:a16="http://schemas.microsoft.com/office/drawing/2014/main" id="{B9D42737-5D93-48A9-91A8-2A91684CF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05550"/>
            <a:ext cx="933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55555"/>
                </a:solidFill>
              </a:defRPr>
            </a:pPr>
            <a:r>
              <a:rPr sz="825" b="0">
                <a:solidFill>
                  <a:srgbClr val="555555"/>
                </a:solidFill>
              </a:rPr>
              <a:t>Sources: Kudo 2018.</a:t>
            </a:r>
          </a:p>
        </p:txBody>
      </p:sp>
      <p:sp>
        <p:nvSpPr>
          <p:cNvPr id="22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5D294717-FD2C-4F61-9B32-1472F4F88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674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000000"/>
                </a:solidFill>
              </a:defRPr>
            </a:pPr>
            <a:r>
              <a:rPr sz="1125" b="0">
                <a:solidFill>
                  <a:srgbClr val="000000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05883820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ext">
            <a:extLst xmlns:a="http://schemas.openxmlformats.org/drawingml/2006/main">
              <a:ext uri="{FF2B5EF4-FFF2-40B4-BE49-F238E27FC236}">
                <a16:creationId xmlns:a16="http://schemas.microsoft.com/office/drawing/2014/main" id="{0C049DDD-8894-46EA-95B1-5FD1E08CF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00000"/>
                </a:solidFill>
              </a:defRPr>
            </a:pPr>
            <a:r>
              <a:rPr sz="3000" b="1">
                <a:solidFill>
                  <a:srgbClr val="000000"/>
                </a:solidFill>
              </a:rPr>
              <a:t>SentencePiece packages subword learning as language-independent raw-text tokenization</a:t>
            </a:r>
          </a:p>
        </p:txBody>
      </p:sp>
      <p:sp>
        <p:nvSpPr>
          <p:cNvPr id="2" name="left-panel">
            <a:extLst xmlns:a="http://schemas.openxmlformats.org/drawingml/2006/main">
              <a:ext uri="{FF2B5EF4-FFF2-40B4-BE49-F238E27FC236}">
                <a16:creationId xmlns:a16="http://schemas.microsoft.com/office/drawing/2014/main" id="{829081DD-A692-4C16-A4C7-C1F8458A7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38300"/>
            <a:ext cx="533400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" name="right-panel">
            <a:extLst xmlns:a="http://schemas.openxmlformats.org/drawingml/2006/main">
              <a:ext uri="{FF2B5EF4-FFF2-40B4-BE49-F238E27FC236}">
                <a16:creationId xmlns:a16="http://schemas.microsoft.com/office/drawing/2014/main" id="{7166A12E-A469-4008-A889-B3039CD28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638300"/>
            <a:ext cx="533400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6BD4DB06-50D2-48FC-996C-3FCB75DEF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4310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0000"/>
                </a:solidFill>
              </a:defRPr>
            </a:pPr>
            <a:r>
              <a:rPr sz="2100" b="1">
                <a:solidFill>
                  <a:srgbClr val="000000"/>
                </a:solidFill>
              </a:rPr>
              <a:t>Core design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C0AECF24-7073-4B86-9605-C7042D72F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09850"/>
            <a:ext cx="46482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00000"/>
                </a:solidFill>
              </a:defRPr>
            </a:pPr>
            <a:r>
              <a:rPr sz="1725" b="0">
                <a:solidFill>
                  <a:srgbClr val="000000"/>
                </a:solidFill>
              </a:rPr>
              <a:t>- It trains directly from raw sentences instead of requiring pre-tokenized words</a:t>
            </a:r>
          </a:p>
          <a:p xmlns:a="http://schemas.openxmlformats.org/drawingml/2006/main">
            <a:pPr algn="l">
              <a:defRPr sz="1725" b="0">
                <a:solidFill>
                  <a:srgbClr val="000000"/>
                </a:solidFill>
              </a:defRPr>
            </a:pPr>
            <a:r>
              <a:rPr sz="1725" b="0">
                <a:solidFill>
                  <a:srgbClr val="000000"/>
                </a:solidFill>
              </a:rPr>
              <a:t>- Whitespace is escaped as a normal symbol, enabling lossless detokenization</a:t>
            </a:r>
          </a:p>
          <a:p xmlns:a="http://schemas.openxmlformats.org/drawingml/2006/main">
            <a:pPr algn="l">
              <a:defRPr sz="1725" b="0">
                <a:solidFill>
                  <a:srgbClr val="000000"/>
                </a:solidFill>
              </a:defRPr>
            </a:pPr>
            <a:r>
              <a:rPr sz="1725" b="0">
                <a:solidFill>
                  <a:srgbClr val="000000"/>
                </a:solidFill>
              </a:rPr>
              <a:t>- It supports both BPE and Unigram algorithms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F212FC2C-78A0-4EA5-8E70-F8C9D6CBE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94310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0000"/>
                </a:solidFill>
              </a:defRPr>
            </a:pPr>
            <a:r>
              <a:rPr sz="2100" b="1">
                <a:solidFill>
                  <a:srgbClr val="000000"/>
                </a:solidFill>
              </a:rPr>
              <a:t>Why this matters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D5594A66-4C1E-4EA3-A35E-61E9BE7F7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609850"/>
            <a:ext cx="46482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00000"/>
                </a:solidFill>
              </a:defRPr>
            </a:pPr>
            <a:r>
              <a:rPr sz="1725" b="0">
                <a:solidFill>
                  <a:srgbClr val="000000"/>
                </a:solidFill>
              </a:rPr>
              <a:t>- Pre-tokenizers are language-specific and brittle for scripts without spaces</a:t>
            </a:r>
          </a:p>
          <a:p xmlns:a="http://schemas.openxmlformats.org/drawingml/2006/main">
            <a:pPr algn="l">
              <a:defRPr sz="1725" b="0">
                <a:solidFill>
                  <a:srgbClr val="000000"/>
                </a:solidFill>
              </a:defRPr>
            </a:pPr>
            <a:r>
              <a:rPr sz="1725" b="0">
                <a:solidFill>
                  <a:srgbClr val="000000"/>
                </a:solidFill>
              </a:rPr>
              <a:t>- The same pipeline can be used for Japanese, English, and multilingual corpora</a:t>
            </a:r>
          </a:p>
          <a:p xmlns:a="http://schemas.openxmlformats.org/drawingml/2006/main">
            <a:pPr algn="l">
              <a:defRPr sz="1725" b="0">
                <a:solidFill>
                  <a:srgbClr val="000000"/>
                </a:solidFill>
              </a:defRPr>
            </a:pPr>
            <a:r>
              <a:rPr sz="1725" b="0">
                <a:solidFill>
                  <a:srgbClr val="000000"/>
                </a:solidFill>
              </a:rPr>
              <a:t>- Raw-text training helps make the tokenizer a reproducible model artifact</a:t>
            </a:r>
          </a:p>
        </p:txBody>
      </p:sp>
      <p:sp>
        <p:nvSpPr>
          <p:cNvPr id="8" name="source">
            <a:extLst xmlns:a="http://schemas.openxmlformats.org/drawingml/2006/main">
              <a:ext uri="{FF2B5EF4-FFF2-40B4-BE49-F238E27FC236}">
                <a16:creationId xmlns:a16="http://schemas.microsoft.com/office/drawing/2014/main" id="{F2A6BC4F-BFE0-4FA4-9CA1-C1372CCE8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05550"/>
            <a:ext cx="933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55555"/>
                </a:solidFill>
              </a:defRPr>
            </a:pPr>
            <a:r>
              <a:rPr sz="825" b="0">
                <a:solidFill>
                  <a:srgbClr val="555555"/>
                </a:solidFill>
              </a:rPr>
              <a:t>Sources: Kudo &amp; Richardson 2018.</a:t>
            </a:r>
          </a:p>
        </p:txBody>
      </p:sp>
      <p:sp>
        <p:nvSpPr>
          <p:cNvPr id="9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CD51C974-AD8D-405D-B4FC-5491B230C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674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000000"/>
                </a:solidFill>
              </a:defRPr>
            </a:pPr>
            <a:r>
              <a:rPr sz="1125" b="0">
                <a:solidFill>
                  <a:srgbClr val="000000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39797237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ext">
            <a:extLst xmlns:a="http://schemas.openxmlformats.org/drawingml/2006/main">
              <a:ext uri="{FF2B5EF4-FFF2-40B4-BE49-F238E27FC236}">
                <a16:creationId xmlns:a16="http://schemas.microsoft.com/office/drawing/2014/main" id="{76DA9B66-9A58-4843-AC08-B7C6D7E63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00000"/>
                </a:solidFill>
              </a:defRPr>
            </a:pPr>
            <a:r>
              <a:rPr sz="3000" b="1">
                <a:solidFill>
                  <a:srgbClr val="000000"/>
                </a:solidFill>
              </a:rPr>
              <a:t>BPE, WordPiece, and Unigram differ most in how they build and choose vocabulary</a:t>
            </a:r>
          </a:p>
        </p:txBody>
      </p:sp>
      <p:sp>
        <p:nvSpPr>
          <p:cNvPr id="2" name="h-0">
            <a:extLst xmlns:a="http://schemas.openxmlformats.org/drawingml/2006/main">
              <a:ext uri="{FF2B5EF4-FFF2-40B4-BE49-F238E27FC236}">
                <a16:creationId xmlns:a16="http://schemas.microsoft.com/office/drawing/2014/main" id="{98B56B41-68A4-4291-85D5-31B5B0EEC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09700"/>
            <a:ext cx="18669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72A16549-564F-492B-8C2F-5FD424CAC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43050"/>
            <a:ext cx="1638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0000"/>
                </a:solidFill>
              </a:defRPr>
            </a:pPr>
            <a:r>
              <a:rPr sz="1200" b="1">
                <a:solidFill>
                  <a:srgbClr val="000000"/>
                </a:solidFill>
              </a:rPr>
              <a:t>Dimension</a:t>
            </a:r>
          </a:p>
        </p:txBody>
      </p:sp>
      <p:sp>
        <p:nvSpPr>
          <p:cNvPr id="4" name="h-1">
            <a:extLst xmlns:a="http://schemas.openxmlformats.org/drawingml/2006/main">
              <a:ext uri="{FF2B5EF4-FFF2-40B4-BE49-F238E27FC236}">
                <a16:creationId xmlns:a16="http://schemas.microsoft.com/office/drawing/2014/main" id="{A8FE34E3-8D4C-4FFC-9155-10FAB0929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1409700"/>
            <a:ext cx="2476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6C84CED5-92F4-4161-8DDE-2821666D5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1543050"/>
            <a:ext cx="2247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0000"/>
                </a:solidFill>
              </a:defRPr>
            </a:pPr>
            <a:r>
              <a:rPr sz="1200" b="1">
                <a:solidFill>
                  <a:srgbClr val="000000"/>
                </a:solidFill>
              </a:rPr>
              <a:t>BPE</a:t>
            </a:r>
          </a:p>
        </p:txBody>
      </p:sp>
      <p:sp>
        <p:nvSpPr>
          <p:cNvPr id="6" name="h-2">
            <a:extLst xmlns:a="http://schemas.openxmlformats.org/drawingml/2006/main">
              <a:ext uri="{FF2B5EF4-FFF2-40B4-BE49-F238E27FC236}">
                <a16:creationId xmlns:a16="http://schemas.microsoft.com/office/drawing/2014/main" id="{7C63302E-DD9A-42CE-830E-A404FA527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1409700"/>
            <a:ext cx="2381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1AB953D4-26AE-453D-8427-8A2274795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1543050"/>
            <a:ext cx="2152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0000"/>
                </a:solidFill>
              </a:defRPr>
            </a:pPr>
            <a:r>
              <a:rPr sz="1200" b="1">
                <a:solidFill>
                  <a:srgbClr val="000000"/>
                </a:solidFill>
              </a:rPr>
              <a:t>WordPiece</a:t>
            </a:r>
          </a:p>
        </p:txBody>
      </p:sp>
      <p:sp>
        <p:nvSpPr>
          <p:cNvPr id="8" name="h-3">
            <a:extLst xmlns:a="http://schemas.openxmlformats.org/drawingml/2006/main">
              <a:ext uri="{FF2B5EF4-FFF2-40B4-BE49-F238E27FC236}">
                <a16:creationId xmlns:a16="http://schemas.microsoft.com/office/drawing/2014/main" id="{983A079B-9010-4404-82B3-2686B7285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1409700"/>
            <a:ext cx="2286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C2E6C23D-4708-4AE3-B79E-B3BF787EF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543050"/>
            <a:ext cx="2057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0000"/>
                </a:solidFill>
              </a:defRPr>
            </a:pPr>
            <a:r>
              <a:rPr sz="1200" b="1">
                <a:solidFill>
                  <a:srgbClr val="000000"/>
                </a:solidFill>
              </a:rPr>
              <a:t>Unigram LM</a:t>
            </a:r>
          </a:p>
        </p:txBody>
      </p:sp>
      <p:sp>
        <p:nvSpPr>
          <p:cNvPr id="10" name="h-4">
            <a:extLst xmlns:a="http://schemas.openxmlformats.org/drawingml/2006/main">
              <a:ext uri="{FF2B5EF4-FFF2-40B4-BE49-F238E27FC236}">
                <a16:creationId xmlns:a16="http://schemas.microsoft.com/office/drawing/2014/main" id="{C6672D51-F47A-45B8-BAB8-2C7745AD5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1409700"/>
            <a:ext cx="2381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FDB3A87F-B134-4BC5-AD8C-5BD466222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1543050"/>
            <a:ext cx="2152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0000"/>
                </a:solidFill>
              </a:defRPr>
            </a:pPr>
            <a:r>
              <a:rPr sz="1200" b="1">
                <a:solidFill>
                  <a:srgbClr val="000000"/>
                </a:solidFill>
              </a:rPr>
              <a:t>SentencePiece</a:t>
            </a:r>
          </a:p>
        </p:txBody>
      </p:sp>
      <p:sp>
        <p:nvSpPr>
          <p:cNvPr id="12" name="r0c0">
            <a:extLst xmlns:a="http://schemas.openxmlformats.org/drawingml/2006/main">
              <a:ext uri="{FF2B5EF4-FFF2-40B4-BE49-F238E27FC236}">
                <a16:creationId xmlns:a16="http://schemas.microsoft.com/office/drawing/2014/main" id="{5468C8C6-CCBE-4753-AA79-CA610C7D2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24050"/>
            <a:ext cx="18669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F75D8751-FB53-4847-9876-08DE25D3D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28825"/>
            <a:ext cx="1638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</a:rPr>
              <a:t>Build direction</a:t>
            </a:r>
          </a:p>
        </p:txBody>
      </p:sp>
      <p:sp>
        <p:nvSpPr>
          <p:cNvPr id="14" name="r0c1">
            <a:extLst xmlns:a="http://schemas.openxmlformats.org/drawingml/2006/main">
              <a:ext uri="{FF2B5EF4-FFF2-40B4-BE49-F238E27FC236}">
                <a16:creationId xmlns:a16="http://schemas.microsoft.com/office/drawing/2014/main" id="{3C96B566-E369-4234-AE2F-2A24AC428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1924050"/>
            <a:ext cx="2476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6C0C110E-BFF0-4F56-AE9B-CEB6D87DC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028825"/>
            <a:ext cx="2247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00000"/>
                </a:solidFill>
              </a:defRPr>
            </a:pPr>
            <a:r>
              <a:rPr sz="1125" b="0">
                <a:solidFill>
                  <a:srgbClr val="000000"/>
                </a:solidFill>
              </a:rPr>
              <a:t>Bottom-up merges</a:t>
            </a:r>
          </a:p>
        </p:txBody>
      </p:sp>
      <p:sp>
        <p:nvSpPr>
          <p:cNvPr id="16" name="r0c2">
            <a:extLst xmlns:a="http://schemas.openxmlformats.org/drawingml/2006/main">
              <a:ext uri="{FF2B5EF4-FFF2-40B4-BE49-F238E27FC236}">
                <a16:creationId xmlns:a16="http://schemas.microsoft.com/office/drawing/2014/main" id="{9DC4C0ED-B6A8-4F35-9B38-1EBA3E975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1924050"/>
            <a:ext cx="2381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8E321AEF-05BC-44BE-BED0-125DB54A9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028825"/>
            <a:ext cx="21526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00000"/>
                </a:solidFill>
              </a:defRPr>
            </a:pPr>
            <a:r>
              <a:rPr sz="1125" b="0">
                <a:solidFill>
                  <a:srgbClr val="000000"/>
                </a:solidFill>
              </a:rPr>
              <a:t>Bottom-up candidate growth</a:t>
            </a:r>
          </a:p>
        </p:txBody>
      </p:sp>
      <p:sp>
        <p:nvSpPr>
          <p:cNvPr id="18" name="r0c3">
            <a:extLst xmlns:a="http://schemas.openxmlformats.org/drawingml/2006/main">
              <a:ext uri="{FF2B5EF4-FFF2-40B4-BE49-F238E27FC236}">
                <a16:creationId xmlns:a16="http://schemas.microsoft.com/office/drawing/2014/main" id="{E36CEC1A-6497-41CF-8C1D-24F887F9C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1924050"/>
            <a:ext cx="2286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491E961D-4445-4F32-9B40-6444C1818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028825"/>
            <a:ext cx="2057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00000"/>
                </a:solidFill>
              </a:defRPr>
            </a:pPr>
            <a:r>
              <a:rPr sz="1125" b="0">
                <a:solidFill>
                  <a:srgbClr val="000000"/>
                </a:solidFill>
              </a:rPr>
              <a:t>Top-down pruning</a:t>
            </a:r>
          </a:p>
        </p:txBody>
      </p:sp>
      <p:sp>
        <p:nvSpPr>
          <p:cNvPr id="20" name="r0c4">
            <a:extLst xmlns:a="http://schemas.openxmlformats.org/drawingml/2006/main">
              <a:ext uri="{FF2B5EF4-FFF2-40B4-BE49-F238E27FC236}">
                <a16:creationId xmlns:a16="http://schemas.microsoft.com/office/drawing/2014/main" id="{40256ABD-602B-418A-A2A7-63CB628F4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1924050"/>
            <a:ext cx="2381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563D2AFC-8653-485C-8C61-F4C919F86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028825"/>
            <a:ext cx="21526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00000"/>
                </a:solidFill>
              </a:defRPr>
            </a:pPr>
            <a:r>
              <a:rPr sz="1125" b="0">
                <a:solidFill>
                  <a:srgbClr val="000000"/>
                </a:solidFill>
              </a:rPr>
              <a:t>Framework for BPE or Unigram</a:t>
            </a:r>
          </a:p>
        </p:txBody>
      </p:sp>
      <p:sp>
        <p:nvSpPr>
          <p:cNvPr id="22" name="r1c0">
            <a:extLst xmlns:a="http://schemas.openxmlformats.org/drawingml/2006/main">
              <a:ext uri="{FF2B5EF4-FFF2-40B4-BE49-F238E27FC236}">
                <a16:creationId xmlns:a16="http://schemas.microsoft.com/office/drawing/2014/main" id="{8F435CAA-57CE-4DB7-B61A-6706B383A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47950"/>
            <a:ext cx="18669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806E5DAD-67D8-45C9-8A7E-1A40051BB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52725"/>
            <a:ext cx="1638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</a:rPr>
              <a:t>Candidate choice</a:t>
            </a:r>
          </a:p>
        </p:txBody>
      </p:sp>
      <p:sp>
        <p:nvSpPr>
          <p:cNvPr id="24" name="r1c1">
            <a:extLst xmlns:a="http://schemas.openxmlformats.org/drawingml/2006/main">
              <a:ext uri="{FF2B5EF4-FFF2-40B4-BE49-F238E27FC236}">
                <a16:creationId xmlns:a16="http://schemas.microsoft.com/office/drawing/2014/main" id="{BF7B9B9E-DDE6-482E-9F5F-751427F5B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2647950"/>
            <a:ext cx="2476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CDC7FB3A-477A-4056-B26C-4F7741681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752725"/>
            <a:ext cx="2247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00000"/>
                </a:solidFill>
              </a:defRPr>
            </a:pPr>
            <a:r>
              <a:rPr sz="1125" b="0">
                <a:solidFill>
                  <a:srgbClr val="000000"/>
                </a:solidFill>
              </a:rPr>
              <a:t>Most frequent adjacent pair</a:t>
            </a:r>
          </a:p>
        </p:txBody>
      </p:sp>
      <p:sp>
        <p:nvSpPr>
          <p:cNvPr id="26" name="r1c2">
            <a:extLst xmlns:a="http://schemas.openxmlformats.org/drawingml/2006/main">
              <a:ext uri="{FF2B5EF4-FFF2-40B4-BE49-F238E27FC236}">
                <a16:creationId xmlns:a16="http://schemas.microsoft.com/office/drawing/2014/main" id="{351B6B15-B0D3-4ED3-92A2-377154190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647950"/>
            <a:ext cx="2381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7" name="text">
            <a:extLst xmlns:a="http://schemas.openxmlformats.org/drawingml/2006/main">
              <a:ext uri="{FF2B5EF4-FFF2-40B4-BE49-F238E27FC236}">
                <a16:creationId xmlns:a16="http://schemas.microsoft.com/office/drawing/2014/main" id="{54D4352B-84C4-42A2-8BBF-EBA4FEB1B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752725"/>
            <a:ext cx="21526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00000"/>
                </a:solidFill>
              </a:defRPr>
            </a:pPr>
            <a:r>
              <a:rPr sz="1125" b="0">
                <a:solidFill>
                  <a:srgbClr val="000000"/>
                </a:solidFill>
              </a:rPr>
              <a:t>Best likelihood gain</a:t>
            </a:r>
          </a:p>
        </p:txBody>
      </p:sp>
      <p:sp>
        <p:nvSpPr>
          <p:cNvPr id="28" name="r1c3">
            <a:extLst xmlns:a="http://schemas.openxmlformats.org/drawingml/2006/main">
              <a:ext uri="{FF2B5EF4-FFF2-40B4-BE49-F238E27FC236}">
                <a16:creationId xmlns:a16="http://schemas.microsoft.com/office/drawing/2014/main" id="{A7FB04D1-3510-41DB-911B-AFBAB6CB0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647950"/>
            <a:ext cx="2286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9" name="text">
            <a:extLst xmlns:a="http://schemas.openxmlformats.org/drawingml/2006/main">
              <a:ext uri="{FF2B5EF4-FFF2-40B4-BE49-F238E27FC236}">
                <a16:creationId xmlns:a16="http://schemas.microsoft.com/office/drawing/2014/main" id="{AC9918DB-AB9E-44B2-A3B6-84BDD9EB0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752725"/>
            <a:ext cx="2057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00000"/>
                </a:solidFill>
              </a:defRPr>
            </a:pPr>
            <a:r>
              <a:rPr sz="1125" b="0">
                <a:solidFill>
                  <a:srgbClr val="000000"/>
                </a:solidFill>
              </a:rPr>
              <a:t>Least likelihood loss when removed</a:t>
            </a:r>
          </a:p>
        </p:txBody>
      </p:sp>
      <p:sp>
        <p:nvSpPr>
          <p:cNvPr id="30" name="r1c4">
            <a:extLst xmlns:a="http://schemas.openxmlformats.org/drawingml/2006/main">
              <a:ext uri="{FF2B5EF4-FFF2-40B4-BE49-F238E27FC236}">
                <a16:creationId xmlns:a16="http://schemas.microsoft.com/office/drawing/2014/main" id="{EA928FD7-8437-47D9-8372-7836197FD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647950"/>
            <a:ext cx="2381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1" name="text">
            <a:extLst xmlns:a="http://schemas.openxmlformats.org/drawingml/2006/main">
              <a:ext uri="{FF2B5EF4-FFF2-40B4-BE49-F238E27FC236}">
                <a16:creationId xmlns:a16="http://schemas.microsoft.com/office/drawing/2014/main" id="{359801DB-445F-4581-8BEB-003CDB1B6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752725"/>
            <a:ext cx="21526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00000"/>
                </a:solidFill>
              </a:defRPr>
            </a:pPr>
            <a:r>
              <a:rPr sz="1125" b="0">
                <a:solidFill>
                  <a:srgbClr val="000000"/>
                </a:solidFill>
              </a:rPr>
              <a:t>Depends on selected algorithm</a:t>
            </a:r>
          </a:p>
        </p:txBody>
      </p:sp>
      <p:sp>
        <p:nvSpPr>
          <p:cNvPr id="32" name="r2c0">
            <a:extLst xmlns:a="http://schemas.openxmlformats.org/drawingml/2006/main">
              <a:ext uri="{FF2B5EF4-FFF2-40B4-BE49-F238E27FC236}">
                <a16:creationId xmlns:a16="http://schemas.microsoft.com/office/drawing/2014/main" id="{86F69974-506B-40E0-A911-48A1A7826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71850"/>
            <a:ext cx="18669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3" name="text">
            <a:extLst xmlns:a="http://schemas.openxmlformats.org/drawingml/2006/main">
              <a:ext uri="{FF2B5EF4-FFF2-40B4-BE49-F238E27FC236}">
                <a16:creationId xmlns:a16="http://schemas.microsoft.com/office/drawing/2014/main" id="{B5F1B65C-6D8D-4E17-8BF6-7006144E2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76625"/>
            <a:ext cx="1638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</a:rPr>
              <a:t>Tokenization</a:t>
            </a:r>
          </a:p>
        </p:txBody>
      </p:sp>
      <p:sp>
        <p:nvSpPr>
          <p:cNvPr id="34" name="r2c1">
            <a:extLst xmlns:a="http://schemas.openxmlformats.org/drawingml/2006/main">
              <a:ext uri="{FF2B5EF4-FFF2-40B4-BE49-F238E27FC236}">
                <a16:creationId xmlns:a16="http://schemas.microsoft.com/office/drawing/2014/main" id="{BECA44EF-575B-45F0-8280-75954C9D3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3371850"/>
            <a:ext cx="2476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5" name="text">
            <a:extLst xmlns:a="http://schemas.openxmlformats.org/drawingml/2006/main">
              <a:ext uri="{FF2B5EF4-FFF2-40B4-BE49-F238E27FC236}">
                <a16:creationId xmlns:a16="http://schemas.microsoft.com/office/drawing/2014/main" id="{05A3AD10-7714-4E6D-81BD-E157FCCC5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476625"/>
            <a:ext cx="2247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00000"/>
                </a:solidFill>
              </a:defRPr>
            </a:pPr>
            <a:r>
              <a:rPr sz="1125" b="0">
                <a:solidFill>
                  <a:srgbClr val="000000"/>
                </a:solidFill>
              </a:rPr>
              <a:t>Usually deterministic</a:t>
            </a:r>
          </a:p>
        </p:txBody>
      </p:sp>
      <p:sp>
        <p:nvSpPr>
          <p:cNvPr id="36" name="r2c2">
            <a:extLst xmlns:a="http://schemas.openxmlformats.org/drawingml/2006/main">
              <a:ext uri="{FF2B5EF4-FFF2-40B4-BE49-F238E27FC236}">
                <a16:creationId xmlns:a16="http://schemas.microsoft.com/office/drawing/2014/main" id="{0652B621-C6C8-47B8-82F8-F431DD51A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371850"/>
            <a:ext cx="2381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7" name="text">
            <a:extLst xmlns:a="http://schemas.openxmlformats.org/drawingml/2006/main">
              <a:ext uri="{FF2B5EF4-FFF2-40B4-BE49-F238E27FC236}">
                <a16:creationId xmlns:a16="http://schemas.microsoft.com/office/drawing/2014/main" id="{A3057B9A-26D2-4B9C-832F-6EC934627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476625"/>
            <a:ext cx="21526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00000"/>
                </a:solidFill>
              </a:defRPr>
            </a:pPr>
            <a:r>
              <a:rPr sz="1125" b="0">
                <a:solidFill>
                  <a:srgbClr val="000000"/>
                </a:solidFill>
              </a:rPr>
              <a:t>Deterministic longest-match in deployed tokenizers</a:t>
            </a:r>
          </a:p>
        </p:txBody>
      </p:sp>
      <p:sp>
        <p:nvSpPr>
          <p:cNvPr id="38" name="r2c3">
            <a:extLst xmlns:a="http://schemas.openxmlformats.org/drawingml/2006/main">
              <a:ext uri="{FF2B5EF4-FFF2-40B4-BE49-F238E27FC236}">
                <a16:creationId xmlns:a16="http://schemas.microsoft.com/office/drawing/2014/main" id="{ABB350FC-25B7-4659-BC59-3FE32C7FD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371850"/>
            <a:ext cx="2286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9" name="text">
            <a:extLst xmlns:a="http://schemas.openxmlformats.org/drawingml/2006/main">
              <a:ext uri="{FF2B5EF4-FFF2-40B4-BE49-F238E27FC236}">
                <a16:creationId xmlns:a16="http://schemas.microsoft.com/office/drawing/2014/main" id="{4DEADC1F-0C31-4FBD-A6A7-727FDED80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476625"/>
            <a:ext cx="2057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00000"/>
                </a:solidFill>
              </a:defRPr>
            </a:pPr>
            <a:r>
              <a:rPr sz="1125" b="0">
                <a:solidFill>
                  <a:srgbClr val="000000"/>
                </a:solidFill>
              </a:rPr>
              <a:t>Deterministic or probabilistic sampling</a:t>
            </a:r>
          </a:p>
        </p:txBody>
      </p:sp>
      <p:sp>
        <p:nvSpPr>
          <p:cNvPr id="40" name="r2c4">
            <a:extLst xmlns:a="http://schemas.openxmlformats.org/drawingml/2006/main">
              <a:ext uri="{FF2B5EF4-FFF2-40B4-BE49-F238E27FC236}">
                <a16:creationId xmlns:a16="http://schemas.microsoft.com/office/drawing/2014/main" id="{1160B549-B7DD-4486-BDF0-6E3B399B2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371850"/>
            <a:ext cx="2381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1" name="text">
            <a:extLst xmlns:a="http://schemas.openxmlformats.org/drawingml/2006/main">
              <a:ext uri="{FF2B5EF4-FFF2-40B4-BE49-F238E27FC236}">
                <a16:creationId xmlns:a16="http://schemas.microsoft.com/office/drawing/2014/main" id="{19902739-38E9-424D-A925-865E15854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476625"/>
            <a:ext cx="21526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00000"/>
                </a:solidFill>
              </a:defRPr>
            </a:pPr>
            <a:r>
              <a:rPr sz="1125" b="0">
                <a:solidFill>
                  <a:srgbClr val="000000"/>
                </a:solidFill>
              </a:rPr>
              <a:t>Can support subword sampling</a:t>
            </a:r>
          </a:p>
        </p:txBody>
      </p:sp>
      <p:sp>
        <p:nvSpPr>
          <p:cNvPr id="42" name="r3c0">
            <a:extLst xmlns:a="http://schemas.openxmlformats.org/drawingml/2006/main">
              <a:ext uri="{FF2B5EF4-FFF2-40B4-BE49-F238E27FC236}">
                <a16:creationId xmlns:a16="http://schemas.microsoft.com/office/drawing/2014/main" id="{3C2FBC95-9B6C-4ACF-AE2D-CE99A8437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95750"/>
            <a:ext cx="18669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3" name="text">
            <a:extLst xmlns:a="http://schemas.openxmlformats.org/drawingml/2006/main">
              <a:ext uri="{FF2B5EF4-FFF2-40B4-BE49-F238E27FC236}">
                <a16:creationId xmlns:a16="http://schemas.microsoft.com/office/drawing/2014/main" id="{7C4D37DA-ACDD-4EA0-AF4D-C588F4BD6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00525"/>
            <a:ext cx="1638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</a:rPr>
              <a:t>Unknowns</a:t>
            </a:r>
          </a:p>
        </p:txBody>
      </p:sp>
      <p:sp>
        <p:nvSpPr>
          <p:cNvPr id="44" name="r3c1">
            <a:extLst xmlns:a="http://schemas.openxmlformats.org/drawingml/2006/main">
              <a:ext uri="{FF2B5EF4-FFF2-40B4-BE49-F238E27FC236}">
                <a16:creationId xmlns:a16="http://schemas.microsoft.com/office/drawing/2014/main" id="{A6C398EC-73BF-42B5-8931-A33525F66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4095750"/>
            <a:ext cx="2476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5" name="text">
            <a:extLst xmlns:a="http://schemas.openxmlformats.org/drawingml/2006/main">
              <a:ext uri="{FF2B5EF4-FFF2-40B4-BE49-F238E27FC236}">
                <a16:creationId xmlns:a16="http://schemas.microsoft.com/office/drawing/2014/main" id="{3E2C455B-2308-4668-B7FE-51F128116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200525"/>
            <a:ext cx="2247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00000"/>
                </a:solidFill>
              </a:defRPr>
            </a:pPr>
            <a:r>
              <a:rPr sz="1125" b="0">
                <a:solidFill>
                  <a:srgbClr val="000000"/>
                </a:solidFill>
              </a:rPr>
              <a:t>Character/byte fallback depends on design</a:t>
            </a:r>
          </a:p>
        </p:txBody>
      </p:sp>
      <p:sp>
        <p:nvSpPr>
          <p:cNvPr id="46" name="r3c2">
            <a:extLst xmlns:a="http://schemas.openxmlformats.org/drawingml/2006/main">
              <a:ext uri="{FF2B5EF4-FFF2-40B4-BE49-F238E27FC236}">
                <a16:creationId xmlns:a16="http://schemas.microsoft.com/office/drawing/2014/main" id="{8A416D27-527E-472D-A910-213685E8F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4095750"/>
            <a:ext cx="2381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7" name="text">
            <a:extLst xmlns:a="http://schemas.openxmlformats.org/drawingml/2006/main">
              <a:ext uri="{FF2B5EF4-FFF2-40B4-BE49-F238E27FC236}">
                <a16:creationId xmlns:a16="http://schemas.microsoft.com/office/drawing/2014/main" id="{EBF74E00-6FA4-4D6C-9CFF-500BBE630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200525"/>
            <a:ext cx="21526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00000"/>
                </a:solidFill>
              </a:defRPr>
            </a:pPr>
            <a:r>
              <a:rPr sz="1125" b="0">
                <a:solidFill>
                  <a:srgbClr val="000000"/>
                </a:solidFill>
              </a:rPr>
              <a:t>Backs off to smaller pieces or unknown symbols</a:t>
            </a:r>
          </a:p>
        </p:txBody>
      </p:sp>
      <p:sp>
        <p:nvSpPr>
          <p:cNvPr id="48" name="r3c3">
            <a:extLst xmlns:a="http://schemas.openxmlformats.org/drawingml/2006/main">
              <a:ext uri="{FF2B5EF4-FFF2-40B4-BE49-F238E27FC236}">
                <a16:creationId xmlns:a16="http://schemas.microsoft.com/office/drawing/2014/main" id="{B33D7D5D-F556-4A7A-9302-C96A71075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095750"/>
            <a:ext cx="2286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9" name="text">
            <a:extLst xmlns:a="http://schemas.openxmlformats.org/drawingml/2006/main">
              <a:ext uri="{FF2B5EF4-FFF2-40B4-BE49-F238E27FC236}">
                <a16:creationId xmlns:a16="http://schemas.microsoft.com/office/drawing/2014/main" id="{AD222502-6599-45AC-A28D-750A4702D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200525"/>
            <a:ext cx="2057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00000"/>
                </a:solidFill>
              </a:defRPr>
            </a:pPr>
            <a:r>
              <a:rPr sz="1125" b="0">
                <a:solidFill>
                  <a:srgbClr val="000000"/>
                </a:solidFill>
              </a:rPr>
              <a:t>Keeps characters to preserve coverage</a:t>
            </a:r>
          </a:p>
        </p:txBody>
      </p:sp>
      <p:sp>
        <p:nvSpPr>
          <p:cNvPr id="50" name="r3c4">
            <a:extLst xmlns:a="http://schemas.openxmlformats.org/drawingml/2006/main">
              <a:ext uri="{FF2B5EF4-FFF2-40B4-BE49-F238E27FC236}">
                <a16:creationId xmlns:a16="http://schemas.microsoft.com/office/drawing/2014/main" id="{09544818-AC88-476E-954A-A9F753279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4095750"/>
            <a:ext cx="2381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1" name="text">
            <a:extLst xmlns:a="http://schemas.openxmlformats.org/drawingml/2006/main">
              <a:ext uri="{FF2B5EF4-FFF2-40B4-BE49-F238E27FC236}">
                <a16:creationId xmlns:a16="http://schemas.microsoft.com/office/drawing/2014/main" id="{DAFFD555-775A-4D24-92FF-2D53E0422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200525"/>
            <a:ext cx="21526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00000"/>
                </a:solidFill>
              </a:defRPr>
            </a:pPr>
            <a:r>
              <a:rPr sz="1125" b="0">
                <a:solidFill>
                  <a:srgbClr val="000000"/>
                </a:solidFill>
              </a:rPr>
              <a:t>Raw text plus byte fallback options in newer models</a:t>
            </a:r>
          </a:p>
        </p:txBody>
      </p:sp>
      <p:sp>
        <p:nvSpPr>
          <p:cNvPr id="52" name="r4c0">
            <a:extLst xmlns:a="http://schemas.openxmlformats.org/drawingml/2006/main">
              <a:ext uri="{FF2B5EF4-FFF2-40B4-BE49-F238E27FC236}">
                <a16:creationId xmlns:a16="http://schemas.microsoft.com/office/drawing/2014/main" id="{9663691C-2DEA-4C20-8398-82E040DF8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819650"/>
            <a:ext cx="18669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3" name="text">
            <a:extLst xmlns:a="http://schemas.openxmlformats.org/drawingml/2006/main">
              <a:ext uri="{FF2B5EF4-FFF2-40B4-BE49-F238E27FC236}">
                <a16:creationId xmlns:a16="http://schemas.microsoft.com/office/drawing/2014/main" id="{F29C40F3-20C7-4D02-BE56-E07E2B00A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924425"/>
            <a:ext cx="1638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</a:rPr>
              <a:t>Main strength</a:t>
            </a:r>
          </a:p>
        </p:txBody>
      </p:sp>
      <p:sp>
        <p:nvSpPr>
          <p:cNvPr id="54" name="r4c1">
            <a:extLst xmlns:a="http://schemas.openxmlformats.org/drawingml/2006/main">
              <a:ext uri="{FF2B5EF4-FFF2-40B4-BE49-F238E27FC236}">
                <a16:creationId xmlns:a16="http://schemas.microsoft.com/office/drawing/2014/main" id="{F3471B23-38A5-49E3-8092-691FCEFDA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4819650"/>
            <a:ext cx="2476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5" name="text">
            <a:extLst xmlns:a="http://schemas.openxmlformats.org/drawingml/2006/main">
              <a:ext uri="{FF2B5EF4-FFF2-40B4-BE49-F238E27FC236}">
                <a16:creationId xmlns:a16="http://schemas.microsoft.com/office/drawing/2014/main" id="{DD67F777-245B-4190-BCD7-C414E51A4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924425"/>
            <a:ext cx="2247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00000"/>
                </a:solidFill>
              </a:defRPr>
            </a:pPr>
            <a:r>
              <a:rPr sz="1125" b="0">
                <a:solidFill>
                  <a:srgbClr val="000000"/>
                </a:solidFill>
              </a:rPr>
              <a:t>Simple and efficient</a:t>
            </a:r>
          </a:p>
        </p:txBody>
      </p:sp>
      <p:sp>
        <p:nvSpPr>
          <p:cNvPr id="56" name="r4c2">
            <a:extLst xmlns:a="http://schemas.openxmlformats.org/drawingml/2006/main">
              <a:ext uri="{FF2B5EF4-FFF2-40B4-BE49-F238E27FC236}">
                <a16:creationId xmlns:a16="http://schemas.microsoft.com/office/drawing/2014/main" id="{E5A28977-FB29-4932-BA39-9E6EA3043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4819650"/>
            <a:ext cx="2381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7" name="text">
            <a:extLst xmlns:a="http://schemas.openxmlformats.org/drawingml/2006/main">
              <a:ext uri="{FF2B5EF4-FFF2-40B4-BE49-F238E27FC236}">
                <a16:creationId xmlns:a16="http://schemas.microsoft.com/office/drawing/2014/main" id="{AB16A94D-C855-4FB9-9CD6-41FA91B70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924425"/>
            <a:ext cx="21526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00000"/>
                </a:solidFill>
              </a:defRPr>
            </a:pPr>
            <a:r>
              <a:rPr sz="1125" b="0">
                <a:solidFill>
                  <a:srgbClr val="000000"/>
                </a:solidFill>
              </a:rPr>
              <a:t>Likelihood-aware vocabulary</a:t>
            </a:r>
          </a:p>
        </p:txBody>
      </p:sp>
      <p:sp>
        <p:nvSpPr>
          <p:cNvPr id="58" name="r4c3">
            <a:extLst xmlns:a="http://schemas.openxmlformats.org/drawingml/2006/main">
              <a:ext uri="{FF2B5EF4-FFF2-40B4-BE49-F238E27FC236}">
                <a16:creationId xmlns:a16="http://schemas.microsoft.com/office/drawing/2014/main" id="{6E536B23-18DD-4E1F-9533-CF0479894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819650"/>
            <a:ext cx="2286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9" name="text">
            <a:extLst xmlns:a="http://schemas.openxmlformats.org/drawingml/2006/main">
              <a:ext uri="{FF2B5EF4-FFF2-40B4-BE49-F238E27FC236}">
                <a16:creationId xmlns:a16="http://schemas.microsoft.com/office/drawing/2014/main" id="{F734F440-C920-43CE-A9D5-FFAEE10D4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924425"/>
            <a:ext cx="2057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00000"/>
                </a:solidFill>
              </a:defRPr>
            </a:pPr>
            <a:r>
              <a:rPr sz="1125" b="0">
                <a:solidFill>
                  <a:srgbClr val="000000"/>
                </a:solidFill>
              </a:rPr>
              <a:t>Models segmentation ambiguity</a:t>
            </a:r>
          </a:p>
        </p:txBody>
      </p:sp>
      <p:sp>
        <p:nvSpPr>
          <p:cNvPr id="60" name="r4c4">
            <a:extLst xmlns:a="http://schemas.openxmlformats.org/drawingml/2006/main">
              <a:ext uri="{FF2B5EF4-FFF2-40B4-BE49-F238E27FC236}">
                <a16:creationId xmlns:a16="http://schemas.microsoft.com/office/drawing/2014/main" id="{D8C5D28D-D1F0-4EFA-8DB3-B9987D53C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4819650"/>
            <a:ext cx="2381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1" name="text">
            <a:extLst xmlns:a="http://schemas.openxmlformats.org/drawingml/2006/main">
              <a:ext uri="{FF2B5EF4-FFF2-40B4-BE49-F238E27FC236}">
                <a16:creationId xmlns:a16="http://schemas.microsoft.com/office/drawing/2014/main" id="{CF97D044-B4E1-4A80-A9D0-53D0C9673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924425"/>
            <a:ext cx="21526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00000"/>
                </a:solidFill>
              </a:defRPr>
            </a:pPr>
            <a:r>
              <a:rPr sz="1125" b="0">
                <a:solidFill>
                  <a:srgbClr val="000000"/>
                </a:solidFill>
              </a:rPr>
              <a:t>Language-independent pipeline</a:t>
            </a:r>
          </a:p>
        </p:txBody>
      </p:sp>
      <p:sp>
        <p:nvSpPr>
          <p:cNvPr id="62" name="source">
            <a:extLst xmlns:a="http://schemas.openxmlformats.org/drawingml/2006/main">
              <a:ext uri="{FF2B5EF4-FFF2-40B4-BE49-F238E27FC236}">
                <a16:creationId xmlns:a16="http://schemas.microsoft.com/office/drawing/2014/main" id="{DE8663D4-A4DB-4A85-B47D-27584BDDD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05550"/>
            <a:ext cx="933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55555"/>
                </a:solidFill>
              </a:defRPr>
            </a:pPr>
            <a:r>
              <a:rPr sz="825" b="0">
                <a:solidFill>
                  <a:srgbClr val="555555"/>
                </a:solidFill>
              </a:rPr>
              <a:t>Sources: Wu et al. 2016; Kudo 2018; Kudo &amp; Richardson 2018; Radford et al. 2019.</a:t>
            </a:r>
          </a:p>
        </p:txBody>
      </p:sp>
      <p:sp>
        <p:nvSpPr>
          <p:cNvPr id="63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E83F242D-DAAD-46F8-ADF7-E422CC90D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674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000000"/>
                </a:solidFill>
              </a:defRPr>
            </a:pPr>
            <a:r>
              <a:rPr sz="1125" b="0">
                <a:solidFill>
                  <a:srgbClr val="000000"/>
                </a:solidFill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93688363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ext">
            <a:extLst xmlns:a="http://schemas.openxmlformats.org/drawingml/2006/main">
              <a:ext uri="{FF2B5EF4-FFF2-40B4-BE49-F238E27FC236}">
                <a16:creationId xmlns:a16="http://schemas.microsoft.com/office/drawing/2014/main" id="{8A1709D9-BCC5-4AA8-A71E-97C8E7CD3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00000"/>
                </a:solidFill>
              </a:defRPr>
            </a:pPr>
            <a:r>
              <a:rPr sz="2850" b="1">
                <a:solidFill>
                  <a:srgbClr val="000000"/>
                </a:solidFill>
              </a:rPr>
              <a:t>Modern models mostly choose by engineering trade-off, not linguistic purity</a:t>
            </a:r>
          </a:p>
        </p:txBody>
      </p:sp>
      <p:sp>
        <p:nvSpPr>
          <p:cNvPr id="2" name="model-0">
            <a:extLst xmlns:a="http://schemas.openxmlformats.org/drawingml/2006/main">
              <a:ext uri="{FF2B5EF4-FFF2-40B4-BE49-F238E27FC236}">
                <a16:creationId xmlns:a16="http://schemas.microsoft.com/office/drawing/2014/main" id="{419FBB9F-ED59-4E0D-BF1F-5673B0408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95450"/>
            <a:ext cx="35623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73F47167-C8F6-4FD0-839E-5A381AB71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81200"/>
            <a:ext cx="295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0000"/>
                </a:solidFill>
              </a:defRPr>
            </a:pPr>
            <a:r>
              <a:rPr sz="2100" b="1">
                <a:solidFill>
                  <a:srgbClr val="000000"/>
                </a:solidFill>
              </a:rPr>
              <a:t>WordPiece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2C1340D3-1C91-466A-BFA1-7E13D5534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24150"/>
            <a:ext cx="2952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00000"/>
                </a:solidFill>
              </a:defRPr>
            </a:pPr>
            <a:r>
              <a:rPr sz="2325" b="1">
                <a:solidFill>
                  <a:srgbClr val="000000"/>
                </a:solidFill>
              </a:rPr>
              <a:t>BERT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2210C97E-2ED2-4445-A581-7EF36280D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562350"/>
            <a:ext cx="2952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55555"/>
                </a:solidFill>
              </a:defRPr>
            </a:pPr>
            <a:r>
              <a:rPr sz="1500" b="0">
                <a:solidFill>
                  <a:srgbClr val="555555"/>
                </a:solidFill>
              </a:rPr>
              <a:t>30k WordPiece vocabulary; continuation pieces support rare forms.</a:t>
            </a:r>
          </a:p>
        </p:txBody>
      </p:sp>
      <p:sp>
        <p:nvSpPr>
          <p:cNvPr id="6" name="model-1">
            <a:extLst xmlns:a="http://schemas.openxmlformats.org/drawingml/2006/main">
              <a:ext uri="{FF2B5EF4-FFF2-40B4-BE49-F238E27FC236}">
                <a16:creationId xmlns:a16="http://schemas.microsoft.com/office/drawing/2014/main" id="{4173ACF2-47DC-40CD-9C3F-C147B69FF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1695450"/>
            <a:ext cx="35623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867CFD83-7D91-42EC-957F-C68CF5738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1981200"/>
            <a:ext cx="295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0000"/>
                </a:solidFill>
              </a:defRPr>
            </a:pPr>
            <a:r>
              <a:rPr sz="2100" b="1">
                <a:solidFill>
                  <a:srgbClr val="000000"/>
                </a:solidFill>
              </a:rPr>
              <a:t>BPE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87503492-643C-4A49-99EC-7059D8A08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2724150"/>
            <a:ext cx="2952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FF6B35"/>
                </a:solidFill>
              </a:defRPr>
            </a:pPr>
            <a:r>
              <a:rPr sz="2325" b="1">
                <a:solidFill>
                  <a:srgbClr val="FF6B35"/>
                </a:solidFill>
              </a:rPr>
              <a:t>GPT-2; GPT-4 family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D852AC8D-95CD-41D7-A274-86B32EECF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3562350"/>
            <a:ext cx="2952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55555"/>
                </a:solidFill>
              </a:defRPr>
            </a:pPr>
            <a:r>
              <a:rPr sz="1500" b="0">
                <a:solidFill>
                  <a:srgbClr val="555555"/>
                </a:solidFill>
              </a:rPr>
              <a:t>GPT-2 uses byte-level BPE; OpenAI tokenizers are BPE-based.</a:t>
            </a:r>
          </a:p>
        </p:txBody>
      </p:sp>
      <p:sp>
        <p:nvSpPr>
          <p:cNvPr id="10" name="model-2">
            <a:extLst xmlns:a="http://schemas.openxmlformats.org/drawingml/2006/main">
              <a:ext uri="{FF2B5EF4-FFF2-40B4-BE49-F238E27FC236}">
                <a16:creationId xmlns:a16="http://schemas.microsoft.com/office/drawing/2014/main" id="{8ABF2FE3-72F8-4014-A5F7-2309A90D6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695450"/>
            <a:ext cx="35623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48DFE587-28AA-40AE-AF47-1CCBF2BFD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981200"/>
            <a:ext cx="295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0000"/>
                </a:solidFill>
              </a:defRPr>
            </a:pPr>
            <a:r>
              <a:rPr sz="2100" b="1">
                <a:solidFill>
                  <a:srgbClr val="000000"/>
                </a:solidFill>
              </a:rPr>
              <a:t>SentencePiece / Unigram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F322FAD9-2313-4381-B019-EE560F23C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724150"/>
            <a:ext cx="2952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00000"/>
                </a:solidFill>
              </a:defRPr>
            </a:pPr>
            <a:r>
              <a:rPr sz="2325" b="1">
                <a:solidFill>
                  <a:srgbClr val="000000"/>
                </a:solidFill>
              </a:rPr>
              <a:t>T5; mT5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66EEC066-8BAA-480E-AD8B-5C611B590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562350"/>
            <a:ext cx="2952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55555"/>
                </a:solidFill>
              </a:defRPr>
            </a:pPr>
            <a:r>
              <a:rPr sz="1500" b="0">
                <a:solidFill>
                  <a:srgbClr val="555555"/>
                </a:solidFill>
              </a:rPr>
              <a:t>Raw-text tokenizer; multilingual variants use large shared vocabularies.</a:t>
            </a:r>
          </a:p>
        </p:txBody>
      </p:sp>
      <p:sp>
        <p:nvSpPr>
          <p:cNvPr id="14" name="source">
            <a:extLst xmlns:a="http://schemas.openxmlformats.org/drawingml/2006/main">
              <a:ext uri="{FF2B5EF4-FFF2-40B4-BE49-F238E27FC236}">
                <a16:creationId xmlns:a16="http://schemas.microsoft.com/office/drawing/2014/main" id="{2792E70A-549A-443E-A165-18AD049A0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05550"/>
            <a:ext cx="933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55555"/>
                </a:solidFill>
              </a:defRPr>
            </a:pPr>
            <a:r>
              <a:rPr sz="825" b="0">
                <a:solidFill>
                  <a:srgbClr val="555555"/>
                </a:solidFill>
              </a:rPr>
              <a:t>Sources: Devlin et al. 2018; Radford et al. 2019; Raffel et al. 2019; Xue et al. 2020; OpenAI tiktoken docs.</a:t>
            </a:r>
          </a:p>
        </p:txBody>
      </p:sp>
      <p:sp>
        <p:nvSpPr>
          <p:cNvPr id="15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5A41965A-BD16-4603-9E02-AD2A23083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674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000000"/>
                </a:solidFill>
              </a:defRPr>
            </a:pPr>
            <a:r>
              <a:rPr sz="1125" b="0">
                <a:solidFill>
                  <a:srgbClr val="000000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75102031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ext">
            <a:extLst xmlns:a="http://schemas.openxmlformats.org/drawingml/2006/main">
              <a:ext uri="{FF2B5EF4-FFF2-40B4-BE49-F238E27FC236}">
                <a16:creationId xmlns:a16="http://schemas.microsoft.com/office/drawing/2014/main" id="{6E6D23A5-07EF-43EA-9203-C06ADE933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00000"/>
                </a:solidFill>
              </a:defRPr>
            </a:pPr>
            <a:r>
              <a:rPr sz="3000" b="1">
                <a:solidFill>
                  <a:srgbClr val="000000"/>
                </a:solidFill>
              </a:rPr>
              <a:t>Low-resource and morphologically rich languages expose the real trade-offs</a:t>
            </a:r>
          </a:p>
        </p:txBody>
      </p:sp>
      <p:sp>
        <p:nvSpPr>
          <p:cNvPr id="2" name="h-0">
            <a:extLst xmlns:a="http://schemas.openxmlformats.org/drawingml/2006/main">
              <a:ext uri="{FF2B5EF4-FFF2-40B4-BE49-F238E27FC236}">
                <a16:creationId xmlns:a16="http://schemas.microsoft.com/office/drawing/2014/main" id="{0F6A61E9-0887-4E5F-B2EA-1A4B890DD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09700"/>
            <a:ext cx="18669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DF8B2F20-D55D-46A7-BE06-C40830D9A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43050"/>
            <a:ext cx="1638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0000"/>
                </a:solidFill>
              </a:defRPr>
            </a:pPr>
            <a:r>
              <a:rPr sz="1200" b="1">
                <a:solidFill>
                  <a:srgbClr val="000000"/>
                </a:solidFill>
              </a:rPr>
              <a:t>Challenge</a:t>
            </a:r>
          </a:p>
        </p:txBody>
      </p:sp>
      <p:sp>
        <p:nvSpPr>
          <p:cNvPr id="4" name="h-1">
            <a:extLst xmlns:a="http://schemas.openxmlformats.org/drawingml/2006/main">
              <a:ext uri="{FF2B5EF4-FFF2-40B4-BE49-F238E27FC236}">
                <a16:creationId xmlns:a16="http://schemas.microsoft.com/office/drawing/2014/main" id="{74603C4B-C021-42DC-BB28-023BCD92E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1409700"/>
            <a:ext cx="2476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2EC6DF09-4CAC-4F73-A736-25AA08359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1543050"/>
            <a:ext cx="2247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0000"/>
                </a:solidFill>
              </a:defRPr>
            </a:pPr>
            <a:r>
              <a:rPr sz="1200" b="1">
                <a:solidFill>
                  <a:srgbClr val="000000"/>
                </a:solidFill>
              </a:rPr>
              <a:t>BPE</a:t>
            </a:r>
          </a:p>
        </p:txBody>
      </p:sp>
      <p:sp>
        <p:nvSpPr>
          <p:cNvPr id="6" name="h-2">
            <a:extLst xmlns:a="http://schemas.openxmlformats.org/drawingml/2006/main">
              <a:ext uri="{FF2B5EF4-FFF2-40B4-BE49-F238E27FC236}">
                <a16:creationId xmlns:a16="http://schemas.microsoft.com/office/drawing/2014/main" id="{B5F4EF42-66A6-490B-AD46-BAE97B7BB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1409700"/>
            <a:ext cx="2381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5900EB14-90B1-433A-BD21-3484813ED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1543050"/>
            <a:ext cx="2152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0000"/>
                </a:solidFill>
              </a:defRPr>
            </a:pPr>
            <a:r>
              <a:rPr sz="1200" b="1">
                <a:solidFill>
                  <a:srgbClr val="000000"/>
                </a:solidFill>
              </a:rPr>
              <a:t>WordPiece</a:t>
            </a:r>
          </a:p>
        </p:txBody>
      </p:sp>
      <p:sp>
        <p:nvSpPr>
          <p:cNvPr id="8" name="h-3">
            <a:extLst xmlns:a="http://schemas.openxmlformats.org/drawingml/2006/main">
              <a:ext uri="{FF2B5EF4-FFF2-40B4-BE49-F238E27FC236}">
                <a16:creationId xmlns:a16="http://schemas.microsoft.com/office/drawing/2014/main" id="{0F33681C-4962-43BF-A87A-B587E9897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1409700"/>
            <a:ext cx="2286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EEC25C40-EBE0-411B-86DB-901EF0991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543050"/>
            <a:ext cx="2057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0000"/>
                </a:solidFill>
              </a:defRPr>
            </a:pPr>
            <a:r>
              <a:rPr sz="1200" b="1">
                <a:solidFill>
                  <a:srgbClr val="000000"/>
                </a:solidFill>
              </a:rPr>
              <a:t>Unigram</a:t>
            </a:r>
          </a:p>
        </p:txBody>
      </p:sp>
      <p:sp>
        <p:nvSpPr>
          <p:cNvPr id="10" name="h-4">
            <a:extLst xmlns:a="http://schemas.openxmlformats.org/drawingml/2006/main">
              <a:ext uri="{FF2B5EF4-FFF2-40B4-BE49-F238E27FC236}">
                <a16:creationId xmlns:a16="http://schemas.microsoft.com/office/drawing/2014/main" id="{16CCA13F-F69A-4451-AA01-319A2C66B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1409700"/>
            <a:ext cx="2381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D7CB58BD-A2A8-41C3-B7B0-74F366933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1543050"/>
            <a:ext cx="2152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0000"/>
                </a:solidFill>
              </a:defRPr>
            </a:pPr>
            <a:r>
              <a:rPr sz="1200" b="1">
                <a:solidFill>
                  <a:srgbClr val="000000"/>
                </a:solidFill>
              </a:rPr>
              <a:t>SentencePiece</a:t>
            </a:r>
          </a:p>
        </p:txBody>
      </p:sp>
      <p:sp>
        <p:nvSpPr>
          <p:cNvPr id="12" name="r0c0">
            <a:extLst xmlns:a="http://schemas.openxmlformats.org/drawingml/2006/main">
              <a:ext uri="{FF2B5EF4-FFF2-40B4-BE49-F238E27FC236}">
                <a16:creationId xmlns:a16="http://schemas.microsoft.com/office/drawing/2014/main" id="{1C1CF6A6-7918-4E49-B0EF-728444968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24050"/>
            <a:ext cx="18669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2D2D251B-0590-4478-AEA5-151E81F34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28825"/>
            <a:ext cx="1638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</a:rPr>
              <a:t>Rich morphology</a:t>
            </a:r>
          </a:p>
        </p:txBody>
      </p:sp>
      <p:sp>
        <p:nvSpPr>
          <p:cNvPr id="14" name="r0c1">
            <a:extLst xmlns:a="http://schemas.openxmlformats.org/drawingml/2006/main">
              <a:ext uri="{FF2B5EF4-FFF2-40B4-BE49-F238E27FC236}">
                <a16:creationId xmlns:a16="http://schemas.microsoft.com/office/drawing/2014/main" id="{6C60D1A7-3B27-40E9-BD5F-53C09C2BB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1924050"/>
            <a:ext cx="2476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4310696C-4200-4069-B02B-2E6EE4C22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028825"/>
            <a:ext cx="2247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00000"/>
                </a:solidFill>
              </a:defRPr>
            </a:pPr>
            <a:r>
              <a:rPr sz="1125" b="0">
                <a:solidFill>
                  <a:srgbClr val="000000"/>
                </a:solidFill>
              </a:rPr>
              <a:t>Splits rare forms but may over-fragment</a:t>
            </a:r>
          </a:p>
        </p:txBody>
      </p:sp>
      <p:sp>
        <p:nvSpPr>
          <p:cNvPr id="16" name="r0c2">
            <a:extLst xmlns:a="http://schemas.openxmlformats.org/drawingml/2006/main">
              <a:ext uri="{FF2B5EF4-FFF2-40B4-BE49-F238E27FC236}">
                <a16:creationId xmlns:a16="http://schemas.microsoft.com/office/drawing/2014/main" id="{17AF576E-70A7-4BFC-BE32-11511D395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1924050"/>
            <a:ext cx="2381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E6545068-FC7E-4FB4-87AB-706A348F3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028825"/>
            <a:ext cx="21526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00000"/>
                </a:solidFill>
              </a:defRPr>
            </a:pPr>
            <a:r>
              <a:rPr sz="1125" b="0">
                <a:solidFill>
                  <a:srgbClr val="000000"/>
                </a:solidFill>
              </a:rPr>
              <a:t>Helps open vocabulary with likelihood-based pieces</a:t>
            </a:r>
          </a:p>
        </p:txBody>
      </p:sp>
      <p:sp>
        <p:nvSpPr>
          <p:cNvPr id="18" name="r0c3">
            <a:extLst xmlns:a="http://schemas.openxmlformats.org/drawingml/2006/main">
              <a:ext uri="{FF2B5EF4-FFF2-40B4-BE49-F238E27FC236}">
                <a16:creationId xmlns:a16="http://schemas.microsoft.com/office/drawing/2014/main" id="{4342B783-0155-46D1-A6CA-70B204F7A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1924050"/>
            <a:ext cx="2286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1D7D72A1-74ED-4168-880D-476C202B0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028825"/>
            <a:ext cx="2057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00000"/>
                </a:solidFill>
              </a:defRPr>
            </a:pPr>
            <a:r>
              <a:rPr sz="1125" b="0">
                <a:solidFill>
                  <a:srgbClr val="000000"/>
                </a:solidFill>
              </a:rPr>
              <a:t>Can prefer alternate analyses</a:t>
            </a:r>
          </a:p>
        </p:txBody>
      </p:sp>
      <p:sp>
        <p:nvSpPr>
          <p:cNvPr id="20" name="r0c4">
            <a:extLst xmlns:a="http://schemas.openxmlformats.org/drawingml/2006/main">
              <a:ext uri="{FF2B5EF4-FFF2-40B4-BE49-F238E27FC236}">
                <a16:creationId xmlns:a16="http://schemas.microsoft.com/office/drawing/2014/main" id="{9477B5A3-9C8D-49A9-B3C7-9D85C66EF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1924050"/>
            <a:ext cx="2381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682FEC31-6ECC-438D-B4D0-92B931BE2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028825"/>
            <a:ext cx="21526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00000"/>
                </a:solidFill>
              </a:defRPr>
            </a:pPr>
            <a:r>
              <a:rPr sz="1125" b="0">
                <a:solidFill>
                  <a:srgbClr val="000000"/>
                </a:solidFill>
              </a:rPr>
              <a:t>Avoids language-specific pre-tokenization</a:t>
            </a:r>
          </a:p>
        </p:txBody>
      </p:sp>
      <p:sp>
        <p:nvSpPr>
          <p:cNvPr id="22" name="r1c0">
            <a:extLst xmlns:a="http://schemas.openxmlformats.org/drawingml/2006/main">
              <a:ext uri="{FF2B5EF4-FFF2-40B4-BE49-F238E27FC236}">
                <a16:creationId xmlns:a16="http://schemas.microsoft.com/office/drawing/2014/main" id="{7F4CEE99-9A84-4DE3-BC16-1450EA651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47950"/>
            <a:ext cx="18669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748D109A-5B0B-48D8-A180-F48A8B093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52725"/>
            <a:ext cx="1638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</a:rPr>
              <a:t>Low resource</a:t>
            </a:r>
          </a:p>
        </p:txBody>
      </p:sp>
      <p:sp>
        <p:nvSpPr>
          <p:cNvPr id="24" name="r1c1">
            <a:extLst xmlns:a="http://schemas.openxmlformats.org/drawingml/2006/main">
              <a:ext uri="{FF2B5EF4-FFF2-40B4-BE49-F238E27FC236}">
                <a16:creationId xmlns:a16="http://schemas.microsoft.com/office/drawing/2014/main" id="{DDB76596-AE51-4B74-B536-0EBCDEAE7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2647950"/>
            <a:ext cx="2476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8D9B9ABD-5837-4F9F-901E-4B542CB31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752725"/>
            <a:ext cx="2247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00000"/>
                </a:solidFill>
              </a:defRPr>
            </a:pPr>
            <a:r>
              <a:rPr sz="1125" b="0">
                <a:solidFill>
                  <a:srgbClr val="000000"/>
                </a:solidFill>
              </a:rPr>
              <a:t>Frequency estimates can be noisy</a:t>
            </a:r>
          </a:p>
        </p:txBody>
      </p:sp>
      <p:sp>
        <p:nvSpPr>
          <p:cNvPr id="26" name="r1c2">
            <a:extLst xmlns:a="http://schemas.openxmlformats.org/drawingml/2006/main">
              <a:ext uri="{FF2B5EF4-FFF2-40B4-BE49-F238E27FC236}">
                <a16:creationId xmlns:a16="http://schemas.microsoft.com/office/drawing/2014/main" id="{CF540314-4C8B-409C-85E3-9D766DC9D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647950"/>
            <a:ext cx="2381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7" name="text">
            <a:extLst xmlns:a="http://schemas.openxmlformats.org/drawingml/2006/main">
              <a:ext uri="{FF2B5EF4-FFF2-40B4-BE49-F238E27FC236}">
                <a16:creationId xmlns:a16="http://schemas.microsoft.com/office/drawing/2014/main" id="{CF700FE1-B29C-4144-A19F-2106C8F5A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752725"/>
            <a:ext cx="21526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00000"/>
                </a:solidFill>
              </a:defRPr>
            </a:pPr>
            <a:r>
              <a:rPr sz="1125" b="0">
                <a:solidFill>
                  <a:srgbClr val="000000"/>
                </a:solidFill>
              </a:rPr>
              <a:t>Needs enough data for useful likelihood estimates</a:t>
            </a:r>
          </a:p>
        </p:txBody>
      </p:sp>
      <p:sp>
        <p:nvSpPr>
          <p:cNvPr id="28" name="r1c3">
            <a:extLst xmlns:a="http://schemas.openxmlformats.org/drawingml/2006/main">
              <a:ext uri="{FF2B5EF4-FFF2-40B4-BE49-F238E27FC236}">
                <a16:creationId xmlns:a16="http://schemas.microsoft.com/office/drawing/2014/main" id="{D1CF231C-9479-4764-AAD5-32A9D59F2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647950"/>
            <a:ext cx="2286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9" name="text">
            <a:extLst xmlns:a="http://schemas.openxmlformats.org/drawingml/2006/main">
              <a:ext uri="{FF2B5EF4-FFF2-40B4-BE49-F238E27FC236}">
                <a16:creationId xmlns:a16="http://schemas.microsoft.com/office/drawing/2014/main" id="{F9EA4F60-EE5C-4438-86BB-D0965B489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752725"/>
            <a:ext cx="2057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00000"/>
                </a:solidFill>
              </a:defRPr>
            </a:pPr>
            <a:r>
              <a:rPr sz="1125" b="0">
                <a:solidFill>
                  <a:srgbClr val="000000"/>
                </a:solidFill>
              </a:rPr>
              <a:t>Subword regularization improved low-resource settings</a:t>
            </a:r>
          </a:p>
        </p:txBody>
      </p:sp>
      <p:sp>
        <p:nvSpPr>
          <p:cNvPr id="30" name="r1c4">
            <a:extLst xmlns:a="http://schemas.openxmlformats.org/drawingml/2006/main">
              <a:ext uri="{FF2B5EF4-FFF2-40B4-BE49-F238E27FC236}">
                <a16:creationId xmlns:a16="http://schemas.microsoft.com/office/drawing/2014/main" id="{E6DA044A-6AD4-43E8-91EB-D459DFEA2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647950"/>
            <a:ext cx="2381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1" name="text">
            <a:extLst xmlns:a="http://schemas.openxmlformats.org/drawingml/2006/main">
              <a:ext uri="{FF2B5EF4-FFF2-40B4-BE49-F238E27FC236}">
                <a16:creationId xmlns:a16="http://schemas.microsoft.com/office/drawing/2014/main" id="{71195BB0-479A-4487-8B2D-8311AE844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752725"/>
            <a:ext cx="21526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00000"/>
                </a:solidFill>
              </a:defRPr>
            </a:pPr>
            <a:r>
              <a:rPr sz="1125" b="0">
                <a:solidFill>
                  <a:srgbClr val="000000"/>
                </a:solidFill>
              </a:rPr>
              <a:t>Works from raw data when tokenizers are unavailable</a:t>
            </a:r>
          </a:p>
        </p:txBody>
      </p:sp>
      <p:sp>
        <p:nvSpPr>
          <p:cNvPr id="32" name="r2c0">
            <a:extLst xmlns:a="http://schemas.openxmlformats.org/drawingml/2006/main">
              <a:ext uri="{FF2B5EF4-FFF2-40B4-BE49-F238E27FC236}">
                <a16:creationId xmlns:a16="http://schemas.microsoft.com/office/drawing/2014/main" id="{4CBD0DC1-8AB4-4728-8191-FA7361608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71850"/>
            <a:ext cx="18669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3" name="text">
            <a:extLst xmlns:a="http://schemas.openxmlformats.org/drawingml/2006/main">
              <a:ext uri="{FF2B5EF4-FFF2-40B4-BE49-F238E27FC236}">
                <a16:creationId xmlns:a16="http://schemas.microsoft.com/office/drawing/2014/main" id="{2308781B-13AF-46BA-BCB4-24F22440D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76625"/>
            <a:ext cx="1638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</a:rPr>
              <a:t>No spaces / many scripts</a:t>
            </a:r>
          </a:p>
        </p:txBody>
      </p:sp>
      <p:sp>
        <p:nvSpPr>
          <p:cNvPr id="34" name="r2c1">
            <a:extLst xmlns:a="http://schemas.openxmlformats.org/drawingml/2006/main">
              <a:ext uri="{FF2B5EF4-FFF2-40B4-BE49-F238E27FC236}">
                <a16:creationId xmlns:a16="http://schemas.microsoft.com/office/drawing/2014/main" id="{760CBD94-48A3-4FD6-B94C-C5C70DB6E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3371850"/>
            <a:ext cx="2476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5" name="text">
            <a:extLst xmlns:a="http://schemas.openxmlformats.org/drawingml/2006/main">
              <a:ext uri="{FF2B5EF4-FFF2-40B4-BE49-F238E27FC236}">
                <a16:creationId xmlns:a16="http://schemas.microsoft.com/office/drawing/2014/main" id="{ABD3D240-3258-4F2D-A53C-19BA4D7D6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476625"/>
            <a:ext cx="2247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00000"/>
                </a:solidFill>
              </a:defRPr>
            </a:pPr>
            <a:r>
              <a:rPr sz="1125" b="0">
                <a:solidFill>
                  <a:srgbClr val="000000"/>
                </a:solidFill>
              </a:rPr>
              <a:t>Often depends on pre-tokenization</a:t>
            </a:r>
          </a:p>
        </p:txBody>
      </p:sp>
      <p:sp>
        <p:nvSpPr>
          <p:cNvPr id="36" name="r2c2">
            <a:extLst xmlns:a="http://schemas.openxmlformats.org/drawingml/2006/main">
              <a:ext uri="{FF2B5EF4-FFF2-40B4-BE49-F238E27FC236}">
                <a16:creationId xmlns:a16="http://schemas.microsoft.com/office/drawing/2014/main" id="{9C8C4ADF-B90D-4586-A5C6-2256887D5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371850"/>
            <a:ext cx="2381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7" name="text">
            <a:extLst xmlns:a="http://schemas.openxmlformats.org/drawingml/2006/main">
              <a:ext uri="{FF2B5EF4-FFF2-40B4-BE49-F238E27FC236}">
                <a16:creationId xmlns:a16="http://schemas.microsoft.com/office/drawing/2014/main" id="{362E20B1-7E26-470A-98D9-11D9F5961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476625"/>
            <a:ext cx="21526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00000"/>
                </a:solidFill>
              </a:defRPr>
            </a:pPr>
            <a:r>
              <a:rPr sz="1125" b="0">
                <a:solidFill>
                  <a:srgbClr val="000000"/>
                </a:solidFill>
              </a:rPr>
              <a:t>Boundary conventions must be designed</a:t>
            </a:r>
          </a:p>
        </p:txBody>
      </p:sp>
      <p:sp>
        <p:nvSpPr>
          <p:cNvPr id="38" name="r2c3">
            <a:extLst xmlns:a="http://schemas.openxmlformats.org/drawingml/2006/main">
              <a:ext uri="{FF2B5EF4-FFF2-40B4-BE49-F238E27FC236}">
                <a16:creationId xmlns:a16="http://schemas.microsoft.com/office/drawing/2014/main" id="{7FCA20FA-19B9-4558-895A-3905DD103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371850"/>
            <a:ext cx="2286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9" name="text">
            <a:extLst xmlns:a="http://schemas.openxmlformats.org/drawingml/2006/main">
              <a:ext uri="{FF2B5EF4-FFF2-40B4-BE49-F238E27FC236}">
                <a16:creationId xmlns:a16="http://schemas.microsoft.com/office/drawing/2014/main" id="{A6A6F2EA-3CE5-4877-985E-B040ACA62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476625"/>
            <a:ext cx="2057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00000"/>
                </a:solidFill>
              </a:defRPr>
            </a:pPr>
            <a:r>
              <a:rPr sz="1125" b="0">
                <a:solidFill>
                  <a:srgbClr val="000000"/>
                </a:solidFill>
              </a:rPr>
              <a:t>Probabilistic pieces help, but normalization matters</a:t>
            </a:r>
          </a:p>
        </p:txBody>
      </p:sp>
      <p:sp>
        <p:nvSpPr>
          <p:cNvPr id="40" name="r2c4">
            <a:extLst xmlns:a="http://schemas.openxmlformats.org/drawingml/2006/main">
              <a:ext uri="{FF2B5EF4-FFF2-40B4-BE49-F238E27FC236}">
                <a16:creationId xmlns:a16="http://schemas.microsoft.com/office/drawing/2014/main" id="{B3726033-9650-4611-BDCB-82960F40C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371850"/>
            <a:ext cx="2381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1" name="text">
            <a:extLst xmlns:a="http://schemas.openxmlformats.org/drawingml/2006/main">
              <a:ext uri="{FF2B5EF4-FFF2-40B4-BE49-F238E27FC236}">
                <a16:creationId xmlns:a16="http://schemas.microsoft.com/office/drawing/2014/main" id="{659ABB5B-0266-40AF-BECB-0A51300FE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476625"/>
            <a:ext cx="21526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00000"/>
                </a:solidFill>
              </a:defRPr>
            </a:pPr>
            <a:r>
              <a:rPr sz="1125" b="0">
                <a:solidFill>
                  <a:srgbClr val="000000"/>
                </a:solidFill>
              </a:rPr>
              <a:t>Designed for raw sentences and lossless whitespace</a:t>
            </a:r>
          </a:p>
        </p:txBody>
      </p:sp>
      <p:sp>
        <p:nvSpPr>
          <p:cNvPr id="42" name="r3c0">
            <a:extLst xmlns:a="http://schemas.openxmlformats.org/drawingml/2006/main">
              <a:ext uri="{FF2B5EF4-FFF2-40B4-BE49-F238E27FC236}">
                <a16:creationId xmlns:a16="http://schemas.microsoft.com/office/drawing/2014/main" id="{5F68BC80-8BC1-4B8C-B0E4-7DCD46B9D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95750"/>
            <a:ext cx="18669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3" name="text">
            <a:extLst xmlns:a="http://schemas.openxmlformats.org/drawingml/2006/main">
              <a:ext uri="{FF2B5EF4-FFF2-40B4-BE49-F238E27FC236}">
                <a16:creationId xmlns:a16="http://schemas.microsoft.com/office/drawing/2014/main" id="{11B82916-D6D5-4C7D-9423-0B071900B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00525"/>
            <a:ext cx="1638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</a:rPr>
              <a:t>Limitations</a:t>
            </a:r>
          </a:p>
        </p:txBody>
      </p:sp>
      <p:sp>
        <p:nvSpPr>
          <p:cNvPr id="44" name="r3c1">
            <a:extLst xmlns:a="http://schemas.openxmlformats.org/drawingml/2006/main">
              <a:ext uri="{FF2B5EF4-FFF2-40B4-BE49-F238E27FC236}">
                <a16:creationId xmlns:a16="http://schemas.microsoft.com/office/drawing/2014/main" id="{B8F8DE99-0808-4647-9A37-98FDA4046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4095750"/>
            <a:ext cx="2476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5" name="text">
            <a:extLst xmlns:a="http://schemas.openxmlformats.org/drawingml/2006/main">
              <a:ext uri="{FF2B5EF4-FFF2-40B4-BE49-F238E27FC236}">
                <a16:creationId xmlns:a16="http://schemas.microsoft.com/office/drawing/2014/main" id="{F75727B3-855D-4F7B-9494-5D4CC9D0B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200525"/>
            <a:ext cx="2247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00000"/>
                </a:solidFill>
              </a:defRPr>
            </a:pPr>
            <a:r>
              <a:rPr sz="1125" b="0">
                <a:solidFill>
                  <a:srgbClr val="000000"/>
                </a:solidFill>
              </a:rPr>
              <a:t>Greedy merges can waste vocabulary</a:t>
            </a:r>
          </a:p>
        </p:txBody>
      </p:sp>
      <p:sp>
        <p:nvSpPr>
          <p:cNvPr id="46" name="r3c2">
            <a:extLst xmlns:a="http://schemas.openxmlformats.org/drawingml/2006/main">
              <a:ext uri="{FF2B5EF4-FFF2-40B4-BE49-F238E27FC236}">
                <a16:creationId xmlns:a16="http://schemas.microsoft.com/office/drawing/2014/main" id="{0DF2A634-16E7-4FC4-8100-2A5D488B9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4095750"/>
            <a:ext cx="2381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7" name="text">
            <a:extLst xmlns:a="http://schemas.openxmlformats.org/drawingml/2006/main">
              <a:ext uri="{FF2B5EF4-FFF2-40B4-BE49-F238E27FC236}">
                <a16:creationId xmlns:a16="http://schemas.microsoft.com/office/drawing/2014/main" id="{7E6C7364-CB8F-4FFF-9426-B2B800B26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200525"/>
            <a:ext cx="21526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00000"/>
                </a:solidFill>
              </a:defRPr>
            </a:pPr>
            <a:r>
              <a:rPr sz="1125" b="0">
                <a:solidFill>
                  <a:srgbClr val="000000"/>
                </a:solidFill>
              </a:rPr>
              <a:t>Training details are less standardized</a:t>
            </a:r>
          </a:p>
        </p:txBody>
      </p:sp>
      <p:sp>
        <p:nvSpPr>
          <p:cNvPr id="48" name="r3c3">
            <a:extLst xmlns:a="http://schemas.openxmlformats.org/drawingml/2006/main">
              <a:ext uri="{FF2B5EF4-FFF2-40B4-BE49-F238E27FC236}">
                <a16:creationId xmlns:a16="http://schemas.microsoft.com/office/drawing/2014/main" id="{BA909316-09B1-492F-94F8-56854FDBF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095750"/>
            <a:ext cx="2286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9" name="text">
            <a:extLst xmlns:a="http://schemas.openxmlformats.org/drawingml/2006/main">
              <a:ext uri="{FF2B5EF4-FFF2-40B4-BE49-F238E27FC236}">
                <a16:creationId xmlns:a16="http://schemas.microsoft.com/office/drawing/2014/main" id="{B46B0A37-9C48-4D73-BE3D-6BC774A3C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200525"/>
            <a:ext cx="2057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00000"/>
                </a:solidFill>
              </a:defRPr>
            </a:pPr>
            <a:r>
              <a:rPr sz="1125" b="0">
                <a:solidFill>
                  <a:srgbClr val="000000"/>
                </a:solidFill>
              </a:rPr>
              <a:t>More complex training and sampling</a:t>
            </a:r>
          </a:p>
        </p:txBody>
      </p:sp>
      <p:sp>
        <p:nvSpPr>
          <p:cNvPr id="50" name="r3c4">
            <a:extLst xmlns:a="http://schemas.openxmlformats.org/drawingml/2006/main">
              <a:ext uri="{FF2B5EF4-FFF2-40B4-BE49-F238E27FC236}">
                <a16:creationId xmlns:a16="http://schemas.microsoft.com/office/drawing/2014/main" id="{2D15679F-ED4D-442C-836E-AADB13324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4095750"/>
            <a:ext cx="2381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1" name="text">
            <a:extLst xmlns:a="http://schemas.openxmlformats.org/drawingml/2006/main">
              <a:ext uri="{FF2B5EF4-FFF2-40B4-BE49-F238E27FC236}">
                <a16:creationId xmlns:a16="http://schemas.microsoft.com/office/drawing/2014/main" id="{F1510257-1A59-4F4E-A001-B2DC493BA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200525"/>
            <a:ext cx="21526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00000"/>
                </a:solidFill>
              </a:defRPr>
            </a:pPr>
            <a:r>
              <a:rPr sz="1125" b="0">
                <a:solidFill>
                  <a:srgbClr val="000000"/>
                </a:solidFill>
              </a:rPr>
              <a:t>Still inherits the chosen subword model's biases</a:t>
            </a:r>
          </a:p>
        </p:txBody>
      </p:sp>
      <p:sp>
        <p:nvSpPr>
          <p:cNvPr id="52" name="r4c0">
            <a:extLst xmlns:a="http://schemas.openxmlformats.org/drawingml/2006/main">
              <a:ext uri="{FF2B5EF4-FFF2-40B4-BE49-F238E27FC236}">
                <a16:creationId xmlns:a16="http://schemas.microsoft.com/office/drawing/2014/main" id="{6AA48F28-EDC2-497F-91A0-801DA63BF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819650"/>
            <a:ext cx="18669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3" name="text">
            <a:extLst xmlns:a="http://schemas.openxmlformats.org/drawingml/2006/main">
              <a:ext uri="{FF2B5EF4-FFF2-40B4-BE49-F238E27FC236}">
                <a16:creationId xmlns:a16="http://schemas.microsoft.com/office/drawing/2014/main" id="{E1D9E908-910D-4FE0-BCD1-BDDE8CAD8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924425"/>
            <a:ext cx="1638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</a:rPr>
              <a:t>Nepali relevance</a:t>
            </a:r>
          </a:p>
        </p:txBody>
      </p:sp>
      <p:sp>
        <p:nvSpPr>
          <p:cNvPr id="54" name="r4c1">
            <a:extLst xmlns:a="http://schemas.openxmlformats.org/drawingml/2006/main">
              <a:ext uri="{FF2B5EF4-FFF2-40B4-BE49-F238E27FC236}">
                <a16:creationId xmlns:a16="http://schemas.microsoft.com/office/drawing/2014/main" id="{BB36B5E0-7CD1-444A-BF72-CB2165A00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4819650"/>
            <a:ext cx="2476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5" name="text">
            <a:extLst xmlns:a="http://schemas.openxmlformats.org/drawingml/2006/main">
              <a:ext uri="{FF2B5EF4-FFF2-40B4-BE49-F238E27FC236}">
                <a16:creationId xmlns:a16="http://schemas.microsoft.com/office/drawing/2014/main" id="{111D905C-6284-4F71-9D4A-FF118ACDB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924425"/>
            <a:ext cx="2247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00000"/>
                </a:solidFill>
              </a:defRPr>
            </a:pPr>
            <a:r>
              <a:rPr sz="1125" b="0">
                <a:solidFill>
                  <a:srgbClr val="000000"/>
                </a:solidFill>
              </a:rPr>
              <a:t>Inflection and compounding can fragment tokens</a:t>
            </a:r>
          </a:p>
        </p:txBody>
      </p:sp>
      <p:sp>
        <p:nvSpPr>
          <p:cNvPr id="56" name="r4c2">
            <a:extLst xmlns:a="http://schemas.openxmlformats.org/drawingml/2006/main">
              <a:ext uri="{FF2B5EF4-FFF2-40B4-BE49-F238E27FC236}">
                <a16:creationId xmlns:a16="http://schemas.microsoft.com/office/drawing/2014/main" id="{EBB01C71-B668-42EA-85AF-09E06C29D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4819650"/>
            <a:ext cx="2381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7" name="text">
            <a:extLst xmlns:a="http://schemas.openxmlformats.org/drawingml/2006/main">
              <a:ext uri="{FF2B5EF4-FFF2-40B4-BE49-F238E27FC236}">
                <a16:creationId xmlns:a16="http://schemas.microsoft.com/office/drawing/2014/main" id="{C7895B0C-3ACC-4AB3-A3D3-FB7E29986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924425"/>
            <a:ext cx="21526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00000"/>
                </a:solidFill>
              </a:defRPr>
            </a:pPr>
            <a:r>
              <a:rPr sz="1125" b="0">
                <a:solidFill>
                  <a:srgbClr val="000000"/>
                </a:solidFill>
              </a:rPr>
              <a:t>Useful if trained on enough Nepali text</a:t>
            </a:r>
          </a:p>
        </p:txBody>
      </p:sp>
      <p:sp>
        <p:nvSpPr>
          <p:cNvPr id="58" name="r4c3">
            <a:extLst xmlns:a="http://schemas.openxmlformats.org/drawingml/2006/main">
              <a:ext uri="{FF2B5EF4-FFF2-40B4-BE49-F238E27FC236}">
                <a16:creationId xmlns:a16="http://schemas.microsoft.com/office/drawing/2014/main" id="{A301A7F3-92FA-43E0-BAC1-82D5DD0F1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819650"/>
            <a:ext cx="2286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9" name="text">
            <a:extLst xmlns:a="http://schemas.openxmlformats.org/drawingml/2006/main">
              <a:ext uri="{FF2B5EF4-FFF2-40B4-BE49-F238E27FC236}">
                <a16:creationId xmlns:a16="http://schemas.microsoft.com/office/drawing/2014/main" id="{850D0450-4831-4C95-B40F-5008A7BFA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924425"/>
            <a:ext cx="2057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00000"/>
                </a:solidFill>
              </a:defRPr>
            </a:pPr>
            <a:r>
              <a:rPr sz="1125" b="0">
                <a:solidFill>
                  <a:srgbClr val="000000"/>
                </a:solidFill>
              </a:rPr>
              <a:t>Promising for ambiguous morphology</a:t>
            </a:r>
          </a:p>
        </p:txBody>
      </p:sp>
      <p:sp>
        <p:nvSpPr>
          <p:cNvPr id="60" name="r4c4">
            <a:extLst xmlns:a="http://schemas.openxmlformats.org/drawingml/2006/main">
              <a:ext uri="{FF2B5EF4-FFF2-40B4-BE49-F238E27FC236}">
                <a16:creationId xmlns:a16="http://schemas.microsoft.com/office/drawing/2014/main" id="{5A062C58-FB19-4C05-B10B-B5D4B0B10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4819650"/>
            <a:ext cx="2381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1" name="text">
            <a:extLst xmlns:a="http://schemas.openxmlformats.org/drawingml/2006/main">
              <a:ext uri="{FF2B5EF4-FFF2-40B4-BE49-F238E27FC236}">
                <a16:creationId xmlns:a16="http://schemas.microsoft.com/office/drawing/2014/main" id="{A466AD3C-0A57-4AF8-8206-A045B6109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924425"/>
            <a:ext cx="21526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00000"/>
                </a:solidFill>
              </a:defRPr>
            </a:pPr>
            <a:r>
              <a:rPr sz="1125" b="0">
                <a:solidFill>
                  <a:srgbClr val="000000"/>
                </a:solidFill>
              </a:rPr>
              <a:t>Good fit for multilingual and mixed-script corpora</a:t>
            </a:r>
          </a:p>
        </p:txBody>
      </p:sp>
      <p:sp>
        <p:nvSpPr>
          <p:cNvPr id="62" name="source">
            <a:extLst xmlns:a="http://schemas.openxmlformats.org/drawingml/2006/main">
              <a:ext uri="{FF2B5EF4-FFF2-40B4-BE49-F238E27FC236}">
                <a16:creationId xmlns:a16="http://schemas.microsoft.com/office/drawing/2014/main" id="{3065FC8B-B9B4-49EE-885B-7B0055AE6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05550"/>
            <a:ext cx="933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55555"/>
                </a:solidFill>
              </a:defRPr>
            </a:pPr>
            <a:r>
              <a:rPr sz="825" b="0">
                <a:solidFill>
                  <a:srgbClr val="555555"/>
                </a:solidFill>
              </a:rPr>
              <a:t>Sources: Wu et al. 2016; Kudo 2018; Kudo &amp; Richardson 2018.</a:t>
            </a:r>
          </a:p>
        </p:txBody>
      </p:sp>
      <p:sp>
        <p:nvSpPr>
          <p:cNvPr id="63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FB017236-C5F5-4532-AE08-EC6484DB7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674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000000"/>
                </a:solidFill>
              </a:defRPr>
            </a:pPr>
            <a:r>
              <a:rPr sz="1125" b="0">
                <a:solidFill>
                  <a:srgbClr val="000000"/>
                </a:solidFill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92817684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ext">
            <a:extLst xmlns:a="http://schemas.openxmlformats.org/drawingml/2006/main">
              <a:ext uri="{FF2B5EF4-FFF2-40B4-BE49-F238E27FC236}">
                <a16:creationId xmlns:a16="http://schemas.microsoft.com/office/drawing/2014/main" id="{653F3F14-3E77-4BF2-9387-43DC3C30F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00000"/>
                </a:solidFill>
              </a:defRPr>
            </a:pPr>
            <a:r>
              <a:rPr sz="3000" b="1">
                <a:solidFill>
                  <a:srgbClr val="000000"/>
                </a:solidFill>
              </a:rPr>
              <a:t>The conclusion: subword tokenization replaces most preprocessing, but not all linguistic thinking</a:t>
            </a:r>
          </a:p>
        </p:txBody>
      </p:sp>
      <p:sp>
        <p:nvSpPr>
          <p:cNvPr id="2" name="left-panel">
            <a:extLst xmlns:a="http://schemas.openxmlformats.org/drawingml/2006/main">
              <a:ext uri="{FF2B5EF4-FFF2-40B4-BE49-F238E27FC236}">
                <a16:creationId xmlns:a16="http://schemas.microsoft.com/office/drawing/2014/main" id="{4C160768-DD92-4269-B4EB-BED456248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38300"/>
            <a:ext cx="533400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" name="right-panel">
            <a:extLst xmlns:a="http://schemas.openxmlformats.org/drawingml/2006/main">
              <a:ext uri="{FF2B5EF4-FFF2-40B4-BE49-F238E27FC236}">
                <a16:creationId xmlns:a16="http://schemas.microsoft.com/office/drawing/2014/main" id="{FF05A1D9-0378-4F21-ABA2-F185BDC33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638300"/>
            <a:ext cx="533400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4F3D43E1-B285-4609-9681-675B7A1CA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4310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0000"/>
                </a:solidFill>
              </a:defRPr>
            </a:pPr>
            <a:r>
              <a:rPr sz="2100" b="1">
                <a:solidFill>
                  <a:srgbClr val="000000"/>
                </a:solidFill>
              </a:rPr>
              <a:t>Answer to the assignment question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759ADD3A-AF30-4B72-A661-2DDCE59BF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09850"/>
            <a:ext cx="46482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00000"/>
                </a:solidFill>
              </a:defRPr>
            </a:pPr>
            <a:r>
              <a:rPr sz="1725" b="0">
                <a:solidFill>
                  <a:srgbClr val="000000"/>
                </a:solidFill>
              </a:rPr>
              <a:t>- Stemming and lemmatization are usually not applied before BPE-style LLM tokenization</a:t>
            </a:r>
          </a:p>
          <a:p xmlns:a="http://schemas.openxmlformats.org/drawingml/2006/main">
            <a:pPr algn="l">
              <a:defRPr sz="1725" b="0">
                <a:solidFill>
                  <a:srgbClr val="000000"/>
                </a:solidFill>
              </a:defRPr>
            </a:pPr>
            <a:r>
              <a:rPr sz="1725" b="0">
                <a:solidFill>
                  <a:srgbClr val="000000"/>
                </a:solidFill>
              </a:rPr>
              <a:t>- They can destroy reversibility and remove information the model may need</a:t>
            </a:r>
          </a:p>
          <a:p xmlns:a="http://schemas.openxmlformats.org/drawingml/2006/main">
            <a:pPr algn="l">
              <a:defRPr sz="1725" b="0">
                <a:solidFill>
                  <a:srgbClr val="000000"/>
                </a:solidFill>
              </a:defRPr>
            </a:pPr>
            <a:r>
              <a:rPr sz="1725" b="0">
                <a:solidFill>
                  <a:srgbClr val="000000"/>
                </a:solidFill>
              </a:rPr>
              <a:t>- They remain relevant for search, retrieval, feature engineering, and analysis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30761839-E082-4D7C-AA6E-5FCF41C2D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94310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0000"/>
                </a:solidFill>
              </a:defRPr>
            </a:pPr>
            <a:r>
              <a:rPr sz="2100" b="1">
                <a:solidFill>
                  <a:srgbClr val="000000"/>
                </a:solidFill>
              </a:rPr>
              <a:t>Final takeaway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C8CFF7DC-111F-4FF7-986F-D7B6CC48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609850"/>
            <a:ext cx="46482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00000"/>
                </a:solidFill>
              </a:defRPr>
            </a:pPr>
            <a:r>
              <a:rPr sz="1725" b="0">
                <a:solidFill>
                  <a:srgbClr val="000000"/>
                </a:solidFill>
              </a:rPr>
              <a:t>- BPE is the simple frequency baseline</a:t>
            </a:r>
          </a:p>
          <a:p xmlns:a="http://schemas.openxmlformats.org/drawingml/2006/main">
            <a:pPr algn="l">
              <a:defRPr sz="1725" b="0">
                <a:solidFill>
                  <a:srgbClr val="000000"/>
                </a:solidFill>
              </a:defRPr>
            </a:pPr>
            <a:r>
              <a:rPr sz="1725" b="0">
                <a:solidFill>
                  <a:srgbClr val="000000"/>
                </a:solidFill>
              </a:rPr>
              <a:t>- WordPiece changes the merge objective to likelihood</a:t>
            </a:r>
          </a:p>
          <a:p xmlns:a="http://schemas.openxmlformats.org/drawingml/2006/main">
            <a:pPr algn="l">
              <a:defRPr sz="1725" b="0">
                <a:solidFill>
                  <a:srgbClr val="000000"/>
                </a:solidFill>
              </a:defRPr>
            </a:pPr>
            <a:r>
              <a:rPr sz="1725" b="0">
                <a:solidFill>
                  <a:srgbClr val="000000"/>
                </a:solidFill>
              </a:rPr>
              <a:t>- Unigram changes the learning direction and can sample segmentations</a:t>
            </a:r>
          </a:p>
          <a:p xmlns:a="http://schemas.openxmlformats.org/drawingml/2006/main">
            <a:pPr algn="l">
              <a:defRPr sz="1725" b="0">
                <a:solidFill>
                  <a:srgbClr val="000000"/>
                </a:solidFill>
              </a:defRPr>
            </a:pPr>
            <a:r>
              <a:rPr sz="1725" b="0">
                <a:solidFill>
                  <a:srgbClr val="000000"/>
                </a:solidFill>
              </a:rPr>
              <a:t>- SentencePiece makes the pipeline raw-text and language-independent</a:t>
            </a:r>
          </a:p>
        </p:txBody>
      </p:sp>
      <p:sp>
        <p:nvSpPr>
          <p:cNvPr id="8" name="source">
            <a:extLst xmlns:a="http://schemas.openxmlformats.org/drawingml/2006/main">
              <a:ext uri="{FF2B5EF4-FFF2-40B4-BE49-F238E27FC236}">
                <a16:creationId xmlns:a16="http://schemas.microsoft.com/office/drawing/2014/main" id="{19BE88AB-531C-4803-956B-357F4B823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05550"/>
            <a:ext cx="933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55555"/>
                </a:solidFill>
              </a:defRPr>
            </a:pPr>
            <a:r>
              <a:rPr sz="825" b="0">
                <a:solidFill>
                  <a:srgbClr val="555555"/>
                </a:solidFill>
              </a:rPr>
              <a:t>Sources: Lovins 1968; Wu et al. 2016; Kudo 2018; Kudo &amp; Richardson 2018.</a:t>
            </a:r>
          </a:p>
        </p:txBody>
      </p:sp>
      <p:sp>
        <p:nvSpPr>
          <p:cNvPr id="9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9BB7E04D-D897-440C-8E23-0B2570BAF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674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000000"/>
                </a:solidFill>
              </a:defRPr>
            </a:pPr>
            <a:r>
              <a:rPr sz="1125" b="0">
                <a:solidFill>
                  <a:srgbClr val="000000"/>
                </a:solidFill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28956599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ext">
            <a:extLst xmlns:a="http://schemas.openxmlformats.org/drawingml/2006/main">
              <a:ext uri="{FF2B5EF4-FFF2-40B4-BE49-F238E27FC236}">
                <a16:creationId xmlns:a16="http://schemas.microsoft.com/office/drawing/2014/main" id="{72952422-EFDE-4884-B4B7-B619FC993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00000"/>
                </a:solidFill>
              </a:defRPr>
            </a:pPr>
            <a:r>
              <a:rPr sz="3000" b="1">
                <a:solidFill>
                  <a:srgbClr val="000000"/>
                </a:solidFill>
              </a:rPr>
              <a:t>References used in the deck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D3EACCB8-BA37-4FE6-A54B-9BBAF1FB8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4450"/>
            <a:ext cx="1057275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00000"/>
                </a:solidFill>
              </a:defRPr>
            </a:pPr>
            <a:r>
              <a:rPr sz="1575" b="0">
                <a:solidFill>
                  <a:srgbClr val="000000"/>
                </a:solidFill>
              </a:rPr>
              <a:t>- Lovins, J. B. (1968). Development of a stemming algorithm.</a:t>
            </a:r>
          </a:p>
          <a:p xmlns:a="http://schemas.openxmlformats.org/drawingml/2006/main">
            <a:pPr algn="l">
              <a:defRPr sz="1575" b="0">
                <a:solidFill>
                  <a:srgbClr val="000000"/>
                </a:solidFill>
              </a:defRPr>
            </a:pPr>
            <a:r>
              <a:rPr sz="1575" b="0">
                <a:solidFill>
                  <a:srgbClr val="000000"/>
                </a:solidFill>
              </a:rPr>
              <a:t>- Schuster, M. &amp; Nakajima, K. (2012). Japanese and Korean Voice Search.</a:t>
            </a:r>
          </a:p>
          <a:p xmlns:a="http://schemas.openxmlformats.org/drawingml/2006/main">
            <a:pPr algn="l">
              <a:defRPr sz="1575" b="0">
                <a:solidFill>
                  <a:srgbClr val="000000"/>
                </a:solidFill>
              </a:defRPr>
            </a:pPr>
            <a:r>
              <a:rPr sz="1575" b="0">
                <a:solidFill>
                  <a:srgbClr val="000000"/>
                </a:solidFill>
              </a:rPr>
              <a:t>- Wu, Y. et al. (2016). Google's Neural Machine Translation System.</a:t>
            </a:r>
          </a:p>
          <a:p xmlns:a="http://schemas.openxmlformats.org/drawingml/2006/main">
            <a:pPr algn="l">
              <a:defRPr sz="1575" b="0">
                <a:solidFill>
                  <a:srgbClr val="000000"/>
                </a:solidFill>
              </a:defRPr>
            </a:pPr>
            <a:r>
              <a:rPr sz="1575" b="0">
                <a:solidFill>
                  <a:srgbClr val="000000"/>
                </a:solidFill>
              </a:rPr>
              <a:t>- Kudo, T. (2018). Subword Regularization.</a:t>
            </a:r>
          </a:p>
          <a:p xmlns:a="http://schemas.openxmlformats.org/drawingml/2006/main">
            <a:pPr algn="l">
              <a:defRPr sz="1575" b="0">
                <a:solidFill>
                  <a:srgbClr val="000000"/>
                </a:solidFill>
              </a:defRPr>
            </a:pPr>
            <a:r>
              <a:rPr sz="1575" b="0">
                <a:solidFill>
                  <a:srgbClr val="000000"/>
                </a:solidFill>
              </a:rPr>
              <a:t>- Kudo, T. &amp; Richardson, J. (2018). SentencePiece.</a:t>
            </a:r>
          </a:p>
          <a:p xmlns:a="http://schemas.openxmlformats.org/drawingml/2006/main">
            <a:pPr algn="l">
              <a:defRPr sz="1575" b="0">
                <a:solidFill>
                  <a:srgbClr val="000000"/>
                </a:solidFill>
              </a:defRPr>
            </a:pPr>
            <a:r>
              <a:rPr sz="1575" b="0">
                <a:solidFill>
                  <a:srgbClr val="000000"/>
                </a:solidFill>
              </a:rPr>
              <a:t>- Devlin, J. et al. (2018). BERT.</a:t>
            </a:r>
          </a:p>
          <a:p xmlns:a="http://schemas.openxmlformats.org/drawingml/2006/main">
            <a:pPr algn="l">
              <a:defRPr sz="1575" b="0">
                <a:solidFill>
                  <a:srgbClr val="000000"/>
                </a:solidFill>
              </a:defRPr>
            </a:pPr>
            <a:r>
              <a:rPr sz="1575" b="0">
                <a:solidFill>
                  <a:srgbClr val="000000"/>
                </a:solidFill>
              </a:rPr>
              <a:t>- Radford, A. et al. (2019). Language Models are Unsupervised Multitask Learners.</a:t>
            </a:r>
          </a:p>
          <a:p xmlns:a="http://schemas.openxmlformats.org/drawingml/2006/main">
            <a:pPr algn="l">
              <a:defRPr sz="1575" b="0">
                <a:solidFill>
                  <a:srgbClr val="000000"/>
                </a:solidFill>
              </a:defRPr>
            </a:pPr>
            <a:r>
              <a:rPr sz="1575" b="0">
                <a:solidFill>
                  <a:srgbClr val="000000"/>
                </a:solidFill>
              </a:rPr>
              <a:t>- Raffel, C. et al. (2019). T5.</a:t>
            </a:r>
          </a:p>
          <a:p xmlns:a="http://schemas.openxmlformats.org/drawingml/2006/main">
            <a:pPr algn="l">
              <a:defRPr sz="1575" b="0">
                <a:solidFill>
                  <a:srgbClr val="000000"/>
                </a:solidFill>
              </a:defRPr>
            </a:pPr>
            <a:r>
              <a:rPr sz="1575" b="0">
                <a:solidFill>
                  <a:srgbClr val="000000"/>
                </a:solidFill>
              </a:rPr>
              <a:t>- Xue, L. et al. (2020). mT5.</a:t>
            </a:r>
          </a:p>
          <a:p xmlns:a="http://schemas.openxmlformats.org/drawingml/2006/main">
            <a:pPr algn="l">
              <a:defRPr sz="1575" b="0">
                <a:solidFill>
                  <a:srgbClr val="000000"/>
                </a:solidFill>
              </a:defRPr>
            </a:pPr>
            <a:r>
              <a:rPr sz="1575" b="0">
                <a:solidFill>
                  <a:srgbClr val="000000"/>
                </a:solidFill>
              </a:rPr>
              <a:t>- OpenAI tiktoken documentation / repository for GPT-family BPE tokenizer context.</a:t>
            </a:r>
          </a:p>
        </p:txBody>
      </p:sp>
      <p:sp>
        <p:nvSpPr>
          <p:cNvPr id="3" name="source">
            <a:extLst xmlns:a="http://schemas.openxmlformats.org/drawingml/2006/main">
              <a:ext uri="{FF2B5EF4-FFF2-40B4-BE49-F238E27FC236}">
                <a16:creationId xmlns:a16="http://schemas.microsoft.com/office/drawing/2014/main" id="{9B41CACC-41B5-41D0-B5D4-0BABF66D4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05550"/>
            <a:ext cx="933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55555"/>
                </a:solidFill>
              </a:defRPr>
            </a:pPr>
            <a:r>
              <a:rPr sz="825" b="0">
                <a:solidFill>
                  <a:srgbClr val="555555"/>
                </a:solidFill>
              </a:rPr>
              <a:t>Sources: all citations above.</a:t>
            </a:r>
          </a:p>
        </p:txBody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F8CE1BA8-8511-41CD-BED4-C2D9460AB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674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000000"/>
                </a:solidFill>
              </a:defRPr>
            </a:pPr>
            <a:r>
              <a:rPr sz="1125" b="0">
                <a:solidFill>
                  <a:srgbClr val="000000"/>
                </a:solidFill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58984772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2026-07-06T10:58:07.8430000Z</dcterms:created>
  <dcterms:modified xsi:type="dcterms:W3CDTF">2026-07-06T10:58:07.8430000Z</dcterms:modified>
</coreProperties>
</file>